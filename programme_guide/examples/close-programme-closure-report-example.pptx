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media/image10.svg" ContentType="image/svg+xml"/>
  <Override PartName="/ppt/media/image17.svg" ContentType="image/svg+xml"/>
  <Override PartName="/ppt/media/image19.svg" ContentType="image/svg+xml"/>
  <Override PartName="/ppt/media/image24.svg" ContentType="image/svg+xml"/>
  <Override PartName="/ppt/media/image26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2"/>
  </p:notesMasterIdLst>
  <p:sldIdLst>
    <p:sldId id="256" r:id="rId5"/>
    <p:sldId id="264" r:id="rId6"/>
    <p:sldId id="298" r:id="rId7"/>
    <p:sldId id="306" r:id="rId8"/>
    <p:sldId id="299" r:id="rId9"/>
    <p:sldId id="307" r:id="rId10"/>
    <p:sldId id="30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E42A5E-43A5-BD96-1108-DAA013246555}" name="Parmar, Rebecca" initials="PR" userId="S::rnparmar@deloitte.co.uk::ba7cbf65-e9fa-4ae1-87fa-bb59fb25d055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rmar Rebecca (RPARMAR1)" initials="PR( [2]" lastIdx="24" clrIdx="0">
    <p:extLst>
      <p:ext uri="{19B8F6BF-5375-455C-9EA6-DF929625EA0E}">
        <p15:presenceInfo xmlns:p15="http://schemas.microsoft.com/office/powerpoint/2012/main" userId="Parmar Rebecca (RPARMAR1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161"/>
    <a:srgbClr val="9DC3E6"/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984B28-C96C-BF84-1AA8-1B2515AB1B29}" v="10" dt="2022-10-28T12:58:15.847"/>
    <p1510:client id="{199DFC00-6D3A-08E6-55A5-451F55C848E8}" v="38" dt="2022-10-24T11:57:28.652"/>
    <p1510:client id="{F3999E0D-5F20-4A3A-A3C6-C796356FC4B9}" v="367" dt="2022-09-22T11:59:46.901"/>
    <p1510:client id="{C51B6C4D-7A5D-DE39-9F9A-47E204F09DE8}" v="4" dt="2022-10-31T16:11:15.3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notesMaster" Target="notesMasters/notesMaster1.xml"/><Relationship Id="rId13" Type="http://schemas.openxmlformats.org/officeDocument/2006/relationships/commentAuthors" Target="commentAuthor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5/10/relationships/revisionInfo" Target="revisionInfo.xml"/><Relationship Id="rId20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1BA805-3E3D-4B1C-96B6-29CD64267831}" type="datetimeFigureOut">
              <a:rPr lang="en-GB" smtClean="0"/>
              <a:t>01/11/2022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B4AFF8-7D45-4DC5-BAA5-74D340DE17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4915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86E0CF-11F4-43B9-BE03-D91DE3E73C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066026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image" Target="../media/image9.png"/><Relationship Id="rId8" Type="http://schemas.openxmlformats.org/officeDocument/2006/relationships/image" Target="../media/image10.svg"/><Relationship Id="rId9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image" Target="../media/image9.png"/><Relationship Id="rId8" Type="http://schemas.openxmlformats.org/officeDocument/2006/relationships/image" Target="../media/image10.svg"/><Relationship Id="rId9" Type="http://schemas.openxmlformats.org/officeDocument/2006/relationships/image" Target="../media/image1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Relationship Id="rId4" Type="http://schemas.openxmlformats.org/officeDocument/2006/relationships/image" Target="../media/image2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4.svg"/><Relationship Id="rId4" Type="http://schemas.openxmlformats.org/officeDocument/2006/relationships/image" Target="../media/image25.png"/><Relationship Id="rId5" Type="http://schemas.openxmlformats.org/officeDocument/2006/relationships/image" Target="../media/image26.svg"/><Relationship Id="rId6" Type="http://schemas.openxmlformats.org/officeDocument/2006/relationships/image" Target="../media/image2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E076F4-B6A4-467F-B402-27349E067C5C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C7FB46-99E4-4F24-B219-8038822064FB}"/>
              </a:ext>
            </a:extLst>
          </p:cNvPr>
          <p:cNvSpPr/>
          <p:nvPr userDrawn="1"/>
        </p:nvSpPr>
        <p:spPr>
          <a:xfrm>
            <a:off x="1884217" y="0"/>
            <a:ext cx="8423565" cy="6026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A8EB3D-0622-4772-9F50-1D678A307045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FECAE955-0890-4F89-9591-B3397372FA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970" y="1288610"/>
            <a:ext cx="6810058" cy="1724753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EEE0EB2B-E033-4C89-BD77-0A528F1E6EB5}"/>
              </a:ext>
            </a:extLst>
          </p:cNvPr>
          <p:cNvGrpSpPr/>
          <p:nvPr userDrawn="1"/>
        </p:nvGrpSpPr>
        <p:grpSpPr>
          <a:xfrm>
            <a:off x="447582" y="3857630"/>
            <a:ext cx="11296836" cy="1869314"/>
            <a:chOff x="341830" y="4099882"/>
            <a:chExt cx="11296836" cy="1869314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9098CA9B-7E0E-4BC1-AEC9-D96BF2C737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50522" y="4285443"/>
              <a:ext cx="11151670" cy="1683753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0E1FB83E-E429-4121-8442-7432A1C4B64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68133" y="4275917"/>
              <a:ext cx="367790" cy="352070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1009EB6A-EF9A-42CF-9A22-346A12D52D0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133126" y="4727910"/>
              <a:ext cx="366446" cy="352070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990A1770-202D-46BC-946D-36FF5B1C6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129294" y="4669281"/>
              <a:ext cx="366447" cy="352070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383C2732-BF6E-4F83-8EE3-776E9AF569E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094502" y="4099882"/>
              <a:ext cx="375731" cy="352070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7C785C38-1EB9-4ADB-BF91-41EFB8C2164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517531" y="4194377"/>
              <a:ext cx="517341" cy="488180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91C7EAEF-0FB1-4AAD-BDA3-BFE1054C3AB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41830" y="4182790"/>
              <a:ext cx="517341" cy="486491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100C167A-9F27-408D-82D2-27C542A3A79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815057" y="4741607"/>
              <a:ext cx="366446" cy="324677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47115CBB-59FB-461F-A7F9-232A90DC8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121325" y="4117681"/>
              <a:ext cx="517341" cy="486491"/>
            </a:xfrm>
            <a:prstGeom prst="rect">
              <a:avLst/>
            </a:prstGeom>
          </p:spPr>
        </p:pic>
      </p:grpSp>
      <p:pic>
        <p:nvPicPr>
          <p:cNvPr id="20" name="Picture 19" descr="Text&#10;&#10;Description automatically generated with medium confidence">
            <a:extLst>
              <a:ext uri="{FF2B5EF4-FFF2-40B4-BE49-F238E27FC236}">
                <a16:creationId xmlns:a16="http://schemas.microsoft.com/office/drawing/2014/main" id="{660C501F-89D1-47B4-915D-97C1286AD8B2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222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9A8EB3D-0622-4772-9F50-1D678A30704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4820DC29-1777-4E91-B342-6A14180C28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971" y="1286467"/>
            <a:ext cx="6810058" cy="1724753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A8B1C81-D648-49A1-BF30-39316DCF6A7D}"/>
              </a:ext>
            </a:extLst>
          </p:cNvPr>
          <p:cNvCxnSpPr>
            <a:cxnSpLocks/>
          </p:cNvCxnSpPr>
          <p:nvPr userDrawn="1"/>
        </p:nvCxnSpPr>
        <p:spPr>
          <a:xfrm>
            <a:off x="0" y="5984370"/>
            <a:ext cx="12192000" cy="0"/>
          </a:xfrm>
          <a:prstGeom prst="line">
            <a:avLst/>
          </a:prstGeom>
          <a:ln w="12700">
            <a:solidFill>
              <a:srgbClr val="0124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99662C3D-1E16-4E85-A1BE-3418AC1699D6}"/>
              </a:ext>
            </a:extLst>
          </p:cNvPr>
          <p:cNvGrpSpPr/>
          <p:nvPr userDrawn="1"/>
        </p:nvGrpSpPr>
        <p:grpSpPr>
          <a:xfrm>
            <a:off x="447582" y="3857630"/>
            <a:ext cx="11296836" cy="1869314"/>
            <a:chOff x="341830" y="4099882"/>
            <a:chExt cx="11296836" cy="1869314"/>
          </a:xfrm>
        </p:grpSpPr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DF124308-F1A5-4E01-B176-378941966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50522" y="4285443"/>
              <a:ext cx="11151670" cy="1683753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43165B68-1C22-4DE7-9A5B-BC7B25356DD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68133" y="4275917"/>
              <a:ext cx="367790" cy="352070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35AA517-7D22-4AA3-AFB4-30E49FB41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133126" y="4727910"/>
              <a:ext cx="366446" cy="352070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F22EC3D5-7A5C-4D16-AE9C-3D05AC0E3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129294" y="4669281"/>
              <a:ext cx="366447" cy="352070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71023654-9E0D-4C4F-A02E-2DE465C63AE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094502" y="4099882"/>
              <a:ext cx="375731" cy="352070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79BC5A08-85A8-4482-A835-93BD67F085E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517531" y="4194377"/>
              <a:ext cx="517341" cy="488180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55F6DA5E-2DBC-45E1-8E1E-AADE0163B8F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41830" y="4182790"/>
              <a:ext cx="517341" cy="486491"/>
            </a:xfrm>
            <a:prstGeom prst="rect">
              <a:avLst/>
            </a:prstGeom>
          </p:spPr>
        </p:pic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6A348669-A548-41B8-B0F7-B034146511E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815057" y="4741607"/>
              <a:ext cx="366446" cy="324677"/>
            </a:xfrm>
            <a:prstGeom prst="rect">
              <a:avLst/>
            </a:prstGeom>
          </p:spPr>
        </p:pic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43FAEC5B-B86B-4C1C-80F9-5D5244CECEF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121325" y="4117681"/>
              <a:ext cx="517341" cy="486491"/>
            </a:xfrm>
            <a:prstGeom prst="rect">
              <a:avLst/>
            </a:prstGeom>
          </p:spPr>
        </p:pic>
      </p:grp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852F4FC6-8408-48C0-9D79-8045C141635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6193" y="190406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729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1E2FB6F-43FE-4F79-9736-AED61898D3C6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A7BA2C-2F2D-48AD-B702-3C3F03202EE3}"/>
              </a:ext>
            </a:extLst>
          </p:cNvPr>
          <p:cNvSpPr/>
          <p:nvPr userDrawn="1"/>
        </p:nvSpPr>
        <p:spPr>
          <a:xfrm>
            <a:off x="1884219" y="33251"/>
            <a:ext cx="8423564" cy="59768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F4B7C1-B554-4635-B2DB-759FBC00CC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241914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489882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1B5CC9CA-05AC-4F15-9836-A1493E7581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480"/>
          <a:stretch/>
        </p:blipFill>
        <p:spPr>
          <a:xfrm>
            <a:off x="2690971" y="737824"/>
            <a:ext cx="6810058" cy="1199041"/>
          </a:xfrm>
          <a:prstGeom prst="rect">
            <a:avLst/>
          </a:prstGeom>
        </p:spPr>
      </p:pic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22300E88-6458-448C-B988-A3DEDC9564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589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With Caption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1E2FB6F-43FE-4F79-9736-AED61898D3C6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A7BA2C-2F2D-48AD-B702-3C3F03202EE3}"/>
              </a:ext>
            </a:extLst>
          </p:cNvPr>
          <p:cNvSpPr/>
          <p:nvPr userDrawn="1"/>
        </p:nvSpPr>
        <p:spPr>
          <a:xfrm>
            <a:off x="1884219" y="33251"/>
            <a:ext cx="8423564" cy="59768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F4B7C1-B554-4635-B2DB-759FBC00CC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141330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389298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1B5CC9CA-05AC-4F15-9836-A1493E7581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480"/>
          <a:stretch/>
        </p:blipFill>
        <p:spPr>
          <a:xfrm>
            <a:off x="271546" y="202898"/>
            <a:ext cx="2083726" cy="366880"/>
          </a:xfrm>
          <a:prstGeom prst="rect">
            <a:avLst/>
          </a:prstGeom>
        </p:spPr>
      </p:pic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22300E88-6458-448C-B988-A3DEDC9564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040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With Caption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515B860-C6F4-4C82-BDF7-62C9FC852F4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241914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489882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14" name="Picture 13" descr="Text&#10;&#10;Description automatically generated">
            <a:extLst>
              <a:ext uri="{FF2B5EF4-FFF2-40B4-BE49-F238E27FC236}">
                <a16:creationId xmlns:a16="http://schemas.microsoft.com/office/drawing/2014/main" id="{F7D123FC-EFBA-4551-838E-18F3C22BCA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516"/>
          <a:stretch/>
        </p:blipFill>
        <p:spPr>
          <a:xfrm>
            <a:off x="2690971" y="737824"/>
            <a:ext cx="6810058" cy="1215667"/>
          </a:xfrm>
          <a:prstGeom prst="rect">
            <a:avLst/>
          </a:prstGeom>
        </p:spPr>
      </p:pic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95C5A1DC-E06E-4D42-AAC4-FC7654B99C8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6193" y="190406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829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With Caption_Blu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515B860-C6F4-4C82-BDF7-62C9FC852F4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1330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389298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14" name="Picture 13" descr="Text&#10;&#10;Description automatically generated">
            <a:extLst>
              <a:ext uri="{FF2B5EF4-FFF2-40B4-BE49-F238E27FC236}">
                <a16:creationId xmlns:a16="http://schemas.microsoft.com/office/drawing/2014/main" id="{F7D123FC-EFBA-4551-838E-18F3C22BCA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516"/>
          <a:stretch/>
        </p:blipFill>
        <p:spPr>
          <a:xfrm>
            <a:off x="273014" y="190406"/>
            <a:ext cx="2083726" cy="371967"/>
          </a:xfrm>
          <a:prstGeom prst="rect">
            <a:avLst/>
          </a:prstGeom>
        </p:spPr>
      </p:pic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95C5A1DC-E06E-4D42-AAC4-FC7654B99C8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6193" y="190406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852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3B1E11-D49A-436F-B43F-07B8F9BA3C8B}"/>
              </a:ext>
            </a:extLst>
          </p:cNvPr>
          <p:cNvCxnSpPr>
            <a:cxnSpLocks/>
          </p:cNvCxnSpPr>
          <p:nvPr userDrawn="1"/>
        </p:nvCxnSpPr>
        <p:spPr>
          <a:xfrm>
            <a:off x="3240808" y="0"/>
            <a:ext cx="0" cy="685800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Summary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5709" y="1741512"/>
            <a:ext cx="8420794" cy="41233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73ED222-9E51-4FF2-BBB0-74673969398C}"/>
              </a:ext>
            </a:extLst>
          </p:cNvPr>
          <p:cNvCxnSpPr>
            <a:cxnSpLocks/>
          </p:cNvCxnSpPr>
          <p:nvPr userDrawn="1"/>
        </p:nvCxnSpPr>
        <p:spPr>
          <a:xfrm>
            <a:off x="3034144" y="1594456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577684B-BDAE-4D6F-A59D-FC0C00BBF095}"/>
              </a:ext>
            </a:extLst>
          </p:cNvPr>
          <p:cNvCxnSpPr>
            <a:cxnSpLocks/>
          </p:cNvCxnSpPr>
          <p:nvPr userDrawn="1"/>
        </p:nvCxnSpPr>
        <p:spPr>
          <a:xfrm>
            <a:off x="3240808" y="6284423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DE8822-0A29-4F49-9CC3-850EA70E4E3B}"/>
              </a:ext>
            </a:extLst>
          </p:cNvPr>
          <p:cNvCxnSpPr>
            <a:cxnSpLocks/>
          </p:cNvCxnSpPr>
          <p:nvPr userDrawn="1"/>
        </p:nvCxnSpPr>
        <p:spPr>
          <a:xfrm>
            <a:off x="3249119" y="135776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54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60FCD6F-1003-4B06-A2FA-DE74C8FCA332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C1A071-F668-4F19-8C27-941D75CE205C}"/>
              </a:ext>
            </a:extLst>
          </p:cNvPr>
          <p:cNvCxnSpPr>
            <a:cxnSpLocks/>
          </p:cNvCxnSpPr>
          <p:nvPr userDrawn="1"/>
        </p:nvCxnSpPr>
        <p:spPr>
          <a:xfrm>
            <a:off x="3298997" y="0"/>
            <a:ext cx="0" cy="694944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Summary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3898" y="1604357"/>
            <a:ext cx="8219901" cy="4101698"/>
          </a:xfrm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1B76911-E06F-44B1-BFDD-44635A723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EBCAD98-D567-4133-A59A-E15A8AEFA922}"/>
              </a:ext>
            </a:extLst>
          </p:cNvPr>
          <p:cNvCxnSpPr>
            <a:cxnSpLocks/>
          </p:cNvCxnSpPr>
          <p:nvPr userDrawn="1"/>
        </p:nvCxnSpPr>
        <p:spPr>
          <a:xfrm>
            <a:off x="3084020" y="1345074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8457330-1C9E-4687-AB9A-B2FCEAF8F21F}"/>
              </a:ext>
            </a:extLst>
          </p:cNvPr>
          <p:cNvCxnSpPr>
            <a:cxnSpLocks/>
          </p:cNvCxnSpPr>
          <p:nvPr userDrawn="1"/>
        </p:nvCxnSpPr>
        <p:spPr>
          <a:xfrm>
            <a:off x="3298997" y="5802285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330C9BC-38AE-47B9-9A91-1E2770FBB57F}"/>
              </a:ext>
            </a:extLst>
          </p:cNvPr>
          <p:cNvCxnSpPr>
            <a:cxnSpLocks/>
          </p:cNvCxnSpPr>
          <p:nvPr userDrawn="1"/>
        </p:nvCxnSpPr>
        <p:spPr>
          <a:xfrm>
            <a:off x="3298997" y="135776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5917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5B230F1-B233-41C2-9778-CCD93AB5C3AC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4E5FF5-0C23-4EDF-9906-84C12B640E8A}"/>
              </a:ext>
            </a:extLst>
          </p:cNvPr>
          <p:cNvCxnSpPr>
            <a:cxnSpLocks/>
          </p:cNvCxnSpPr>
          <p:nvPr userDrawn="1"/>
        </p:nvCxnSpPr>
        <p:spPr>
          <a:xfrm>
            <a:off x="3298997" y="0"/>
            <a:ext cx="0" cy="599347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Summary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7273" y="1587731"/>
            <a:ext cx="8236526" cy="4321482"/>
          </a:xfrm>
        </p:spPr>
        <p:txBody>
          <a:bodyPr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0909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_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4C7D08F-C617-446C-9E0A-C704E9C31131}"/>
              </a:ext>
            </a:extLst>
          </p:cNvPr>
          <p:cNvCxnSpPr/>
          <p:nvPr userDrawn="1"/>
        </p:nvCxnSpPr>
        <p:spPr>
          <a:xfrm>
            <a:off x="1005841" y="1206256"/>
            <a:ext cx="0" cy="4760056"/>
          </a:xfrm>
          <a:prstGeom prst="line">
            <a:avLst/>
          </a:prstGeom>
          <a:ln w="76200">
            <a:solidFill>
              <a:srgbClr val="0FAA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440647DE-5681-4A44-B582-7D30F61FFB06}"/>
              </a:ext>
            </a:extLst>
          </p:cNvPr>
          <p:cNvSpPr/>
          <p:nvPr userDrawn="1"/>
        </p:nvSpPr>
        <p:spPr>
          <a:xfrm>
            <a:off x="0" y="1"/>
            <a:ext cx="12192000" cy="1197942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8569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38034C-C042-4666-9790-D6C6C3177257}"/>
              </a:ext>
            </a:extLst>
          </p:cNvPr>
          <p:cNvSpPr/>
          <p:nvPr userDrawn="1"/>
        </p:nvSpPr>
        <p:spPr>
          <a:xfrm>
            <a:off x="1330027" y="1519471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0C9CCA-2103-4B50-82A3-1D1E4C4E4DC9}"/>
              </a:ext>
            </a:extLst>
          </p:cNvPr>
          <p:cNvSpPr/>
          <p:nvPr userDrawn="1"/>
        </p:nvSpPr>
        <p:spPr>
          <a:xfrm>
            <a:off x="1330027" y="2363642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A87829-D0D2-41F5-915F-64027CB809EB}"/>
              </a:ext>
            </a:extLst>
          </p:cNvPr>
          <p:cNvSpPr/>
          <p:nvPr userDrawn="1"/>
        </p:nvSpPr>
        <p:spPr>
          <a:xfrm>
            <a:off x="1330028" y="3211904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0D80B1-3186-4DC8-AF30-A01F57213504}"/>
              </a:ext>
            </a:extLst>
          </p:cNvPr>
          <p:cNvSpPr/>
          <p:nvPr userDrawn="1"/>
        </p:nvSpPr>
        <p:spPr>
          <a:xfrm>
            <a:off x="1330028" y="4065378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F23774-6F04-4E0F-B56A-A3742CFF3098}"/>
              </a:ext>
            </a:extLst>
          </p:cNvPr>
          <p:cNvSpPr/>
          <p:nvPr userDrawn="1"/>
        </p:nvSpPr>
        <p:spPr>
          <a:xfrm>
            <a:off x="1330029" y="4916470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699F87D0-CFD1-47C5-BDFE-D8D37E2C56A1}"/>
              </a:ext>
            </a:extLst>
          </p:cNvPr>
          <p:cNvSpPr/>
          <p:nvPr userDrawn="1"/>
        </p:nvSpPr>
        <p:spPr>
          <a:xfrm>
            <a:off x="1330027" y="1519471"/>
            <a:ext cx="4218705" cy="720000"/>
          </a:xfrm>
          <a:prstGeom prst="homePlate">
            <a:avLst/>
          </a:prstGeom>
          <a:solidFill>
            <a:srgbClr val="002161"/>
          </a:solidFill>
          <a:ln>
            <a:solidFill>
              <a:srgbClr val="0124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A48138-A7AF-4B98-BA15-61AB2F2C2A56}"/>
              </a:ext>
            </a:extLst>
          </p:cNvPr>
          <p:cNvSpPr txBox="1"/>
          <p:nvPr userDrawn="1"/>
        </p:nvSpPr>
        <p:spPr>
          <a:xfrm>
            <a:off x="1330027" y="158560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4F44E46-14CE-4A8C-B51A-28474D9F581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636019" y="157728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6079" y="157728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EDBECA60-9307-4E6A-B2AB-0101BF05D5DD}"/>
              </a:ext>
            </a:extLst>
          </p:cNvPr>
          <p:cNvSpPr/>
          <p:nvPr userDrawn="1"/>
        </p:nvSpPr>
        <p:spPr>
          <a:xfrm>
            <a:off x="1330027" y="2361431"/>
            <a:ext cx="4218705" cy="720000"/>
          </a:xfrm>
          <a:prstGeom prst="homePlate">
            <a:avLst/>
          </a:prstGeom>
          <a:solidFill>
            <a:srgbClr val="002161"/>
          </a:solidFill>
          <a:ln>
            <a:solidFill>
              <a:srgbClr val="0124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928E0D-1470-4294-BADA-EDFED810A8C0}"/>
              </a:ext>
            </a:extLst>
          </p:cNvPr>
          <p:cNvSpPr txBox="1"/>
          <p:nvPr userDrawn="1"/>
        </p:nvSpPr>
        <p:spPr>
          <a:xfrm>
            <a:off x="1330027" y="242756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6D42AD94-79EE-439D-8C12-FBB4DF2E576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636019" y="241924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3F8A366B-7377-4E57-91F6-F8E99BEE908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916079" y="241924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Arrow: Pentagon 20">
            <a:extLst>
              <a:ext uri="{FF2B5EF4-FFF2-40B4-BE49-F238E27FC236}">
                <a16:creationId xmlns:a16="http://schemas.microsoft.com/office/drawing/2014/main" id="{38A9800C-EF15-4FCF-A0A2-F74674A4283C}"/>
              </a:ext>
            </a:extLst>
          </p:cNvPr>
          <p:cNvSpPr/>
          <p:nvPr userDrawn="1"/>
        </p:nvSpPr>
        <p:spPr>
          <a:xfrm>
            <a:off x="1330027" y="3220299"/>
            <a:ext cx="4218705" cy="720000"/>
          </a:xfrm>
          <a:prstGeom prst="homePlate">
            <a:avLst/>
          </a:prstGeom>
          <a:solidFill>
            <a:srgbClr val="002161"/>
          </a:solidFill>
          <a:ln>
            <a:solidFill>
              <a:srgbClr val="0124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180E96-C44B-4D17-A536-5306B8023470}"/>
              </a:ext>
            </a:extLst>
          </p:cNvPr>
          <p:cNvSpPr txBox="1"/>
          <p:nvPr userDrawn="1"/>
        </p:nvSpPr>
        <p:spPr>
          <a:xfrm>
            <a:off x="1330027" y="3286429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4F62B8B8-50FB-4424-B81D-FB1F84444EE1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5636019" y="3278116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BCC9011-2C49-49B2-B8DC-8D9828A4FB89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1916079" y="3278116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Arrow: Pentagon 24">
            <a:extLst>
              <a:ext uri="{FF2B5EF4-FFF2-40B4-BE49-F238E27FC236}">
                <a16:creationId xmlns:a16="http://schemas.microsoft.com/office/drawing/2014/main" id="{FC94286E-D81B-483B-8EF2-5D1E456B8B21}"/>
              </a:ext>
            </a:extLst>
          </p:cNvPr>
          <p:cNvSpPr/>
          <p:nvPr userDrawn="1"/>
        </p:nvSpPr>
        <p:spPr>
          <a:xfrm>
            <a:off x="1330027" y="4071391"/>
            <a:ext cx="4218705" cy="720000"/>
          </a:xfrm>
          <a:prstGeom prst="homePlate">
            <a:avLst/>
          </a:prstGeom>
          <a:solidFill>
            <a:srgbClr val="002161"/>
          </a:solidFill>
          <a:ln>
            <a:solidFill>
              <a:srgbClr val="0124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149FC5-2C7A-4506-8A0A-1AEC1A40B2C1}"/>
              </a:ext>
            </a:extLst>
          </p:cNvPr>
          <p:cNvSpPr txBox="1"/>
          <p:nvPr userDrawn="1"/>
        </p:nvSpPr>
        <p:spPr>
          <a:xfrm>
            <a:off x="1330027" y="413752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3E4C3471-CE78-47DA-BA71-EEA7CC1F999B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5636019" y="412920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10D12271-C885-4FA8-A29A-4276632E33DA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1916079" y="412920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Arrow: Pentagon 28">
            <a:extLst>
              <a:ext uri="{FF2B5EF4-FFF2-40B4-BE49-F238E27FC236}">
                <a16:creationId xmlns:a16="http://schemas.microsoft.com/office/drawing/2014/main" id="{E079C228-FB73-4D51-BEB1-7DD88598A734}"/>
              </a:ext>
            </a:extLst>
          </p:cNvPr>
          <p:cNvSpPr/>
          <p:nvPr userDrawn="1"/>
        </p:nvSpPr>
        <p:spPr>
          <a:xfrm>
            <a:off x="1334173" y="4902282"/>
            <a:ext cx="4218705" cy="720000"/>
          </a:xfrm>
          <a:prstGeom prst="homePlate">
            <a:avLst/>
          </a:prstGeom>
          <a:solidFill>
            <a:srgbClr val="002161"/>
          </a:solidFill>
          <a:ln>
            <a:solidFill>
              <a:srgbClr val="0124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4A4331-7043-4F80-9A8D-70D5130597BC}"/>
              </a:ext>
            </a:extLst>
          </p:cNvPr>
          <p:cNvSpPr txBox="1"/>
          <p:nvPr userDrawn="1"/>
        </p:nvSpPr>
        <p:spPr>
          <a:xfrm>
            <a:off x="1334173" y="4968412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22148B34-0A5E-4ED5-B154-0269FBB61F69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5640165" y="4960099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E4D5CBD8-07FB-4C30-A1A9-C3275F4E7436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1920225" y="4960099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4" name="Picture 33" descr="Icon&#10;&#10;Description automatically generated">
            <a:extLst>
              <a:ext uri="{FF2B5EF4-FFF2-40B4-BE49-F238E27FC236}">
                <a16:creationId xmlns:a16="http://schemas.microsoft.com/office/drawing/2014/main" id="{56127348-9FEE-48ED-A010-3144A2B510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607" y="1747754"/>
            <a:ext cx="260468" cy="260468"/>
          </a:xfrm>
          <a:prstGeom prst="rect">
            <a:avLst/>
          </a:prstGeom>
        </p:spPr>
      </p:pic>
      <p:pic>
        <p:nvPicPr>
          <p:cNvPr id="35" name="Picture 34" descr="Icon&#10;&#10;Description automatically generated">
            <a:extLst>
              <a:ext uri="{FF2B5EF4-FFF2-40B4-BE49-F238E27FC236}">
                <a16:creationId xmlns:a16="http://schemas.microsoft.com/office/drawing/2014/main" id="{5626F278-ECE1-4A6B-9D41-C50F6D312E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832" y="2589714"/>
            <a:ext cx="260468" cy="260468"/>
          </a:xfrm>
          <a:prstGeom prst="rect">
            <a:avLst/>
          </a:prstGeom>
        </p:spPr>
      </p:pic>
      <p:pic>
        <p:nvPicPr>
          <p:cNvPr id="36" name="Picture 35" descr="Icon&#10;&#10;Description automatically generated">
            <a:extLst>
              <a:ext uri="{FF2B5EF4-FFF2-40B4-BE49-F238E27FC236}">
                <a16:creationId xmlns:a16="http://schemas.microsoft.com/office/drawing/2014/main" id="{72212E47-92C0-4F3D-B748-A75AE55C56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832" y="3456050"/>
            <a:ext cx="260468" cy="260468"/>
          </a:xfrm>
          <a:prstGeom prst="rect">
            <a:avLst/>
          </a:prstGeom>
        </p:spPr>
      </p:pic>
      <p:pic>
        <p:nvPicPr>
          <p:cNvPr id="37" name="Picture 36" descr="Icon&#10;&#10;Description automatically generated">
            <a:extLst>
              <a:ext uri="{FF2B5EF4-FFF2-40B4-BE49-F238E27FC236}">
                <a16:creationId xmlns:a16="http://schemas.microsoft.com/office/drawing/2014/main" id="{702C45D1-7BCE-4919-9C27-156710520E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70" y="4293990"/>
            <a:ext cx="260468" cy="260468"/>
          </a:xfrm>
          <a:prstGeom prst="rect">
            <a:avLst/>
          </a:prstGeom>
        </p:spPr>
      </p:pic>
      <p:pic>
        <p:nvPicPr>
          <p:cNvPr id="38" name="Picture 37" descr="Icon&#10;&#10;Description automatically generated">
            <a:extLst>
              <a:ext uri="{FF2B5EF4-FFF2-40B4-BE49-F238E27FC236}">
                <a16:creationId xmlns:a16="http://schemas.microsoft.com/office/drawing/2014/main" id="{3578E9B0-EAE9-4ACD-BF4D-50A6708711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832" y="5146236"/>
            <a:ext cx="260468" cy="260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623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139" y="300681"/>
            <a:ext cx="3350028" cy="30912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8E91DD-8ACC-4A5C-856A-D2882D3BAC9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38299" y="4350269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EE2486-9090-4935-8438-39B8EAFD644A}"/>
              </a:ext>
            </a:extLst>
          </p:cNvPr>
          <p:cNvCxnSpPr>
            <a:cxnSpLocks/>
          </p:cNvCxnSpPr>
          <p:nvPr userDrawn="1"/>
        </p:nvCxnSpPr>
        <p:spPr>
          <a:xfrm>
            <a:off x="-8313" y="4210396"/>
            <a:ext cx="3649287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8D5E4CE-D229-4614-BF7C-4FE9DB56B356}"/>
              </a:ext>
            </a:extLst>
          </p:cNvPr>
          <p:cNvCxnSpPr>
            <a:cxnSpLocks/>
          </p:cNvCxnSpPr>
          <p:nvPr userDrawn="1"/>
        </p:nvCxnSpPr>
        <p:spPr>
          <a:xfrm>
            <a:off x="8551026" y="1777538"/>
            <a:ext cx="3649287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0E9DCC-B314-4543-AC94-8147CC54C8CE}"/>
              </a:ext>
            </a:extLst>
          </p:cNvPr>
          <p:cNvCxnSpPr>
            <a:cxnSpLocks/>
          </p:cNvCxnSpPr>
          <p:nvPr userDrawn="1"/>
        </p:nvCxnSpPr>
        <p:spPr>
          <a:xfrm flipV="1">
            <a:off x="3582785" y="1769226"/>
            <a:ext cx="5029200" cy="2449483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7E7BFCA-87DA-451C-8DDE-CF2B427D635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3523441" y="4305416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0BAF78F-886D-46E6-8F86-8B0B230914D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472632" y="1682518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ADB099A3-47D0-4D28-B65D-E36B174DEDA5}"/>
              </a:ext>
            </a:extLst>
          </p:cNvPr>
          <p:cNvSpPr/>
          <p:nvPr userDrawn="1"/>
        </p:nvSpPr>
        <p:spPr>
          <a:xfrm>
            <a:off x="7431575" y="2247324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BCDFC52-ADB5-4748-90A3-845D72036E0E}"/>
              </a:ext>
            </a:extLst>
          </p:cNvPr>
          <p:cNvSpPr/>
          <p:nvPr userDrawn="1"/>
        </p:nvSpPr>
        <p:spPr>
          <a:xfrm>
            <a:off x="5065266" y="3391980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C701364-C1A5-49F4-90B8-F9B501943C76}"/>
              </a:ext>
            </a:extLst>
          </p:cNvPr>
          <p:cNvSpPr/>
          <p:nvPr userDrawn="1"/>
        </p:nvSpPr>
        <p:spPr>
          <a:xfrm>
            <a:off x="10395109" y="1713851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E38C180-8D52-426D-AD1B-1E6043F09C5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944495" y="465988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807EE65-B061-4C53-BADA-D36110CE360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573386" y="3827204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D9C866A7-CA2C-4982-A9A6-2E2E0C388165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801982" y="857411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AA804AE-78BB-494D-B737-B208710B3362}"/>
              </a:ext>
            </a:extLst>
          </p:cNvPr>
          <p:cNvSpPr/>
          <p:nvPr userDrawn="1"/>
        </p:nvSpPr>
        <p:spPr>
          <a:xfrm>
            <a:off x="1688913" y="4130083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84653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Summary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327F0222-E3BD-4969-A8CF-8D2816E9D37C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139" y="300681"/>
            <a:ext cx="3350028" cy="30912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8E91DD-8ACC-4A5C-856A-D2882D3BAC9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38299" y="4350269"/>
            <a:ext cx="3045228" cy="1194319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EE2486-9090-4935-8438-39B8EAFD644A}"/>
              </a:ext>
            </a:extLst>
          </p:cNvPr>
          <p:cNvCxnSpPr>
            <a:cxnSpLocks/>
          </p:cNvCxnSpPr>
          <p:nvPr userDrawn="1"/>
        </p:nvCxnSpPr>
        <p:spPr>
          <a:xfrm>
            <a:off x="-8313" y="4210396"/>
            <a:ext cx="3649287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8D5E4CE-D229-4614-BF7C-4FE9DB56B356}"/>
              </a:ext>
            </a:extLst>
          </p:cNvPr>
          <p:cNvCxnSpPr>
            <a:cxnSpLocks/>
          </p:cNvCxnSpPr>
          <p:nvPr userDrawn="1"/>
        </p:nvCxnSpPr>
        <p:spPr>
          <a:xfrm>
            <a:off x="8551026" y="1777538"/>
            <a:ext cx="3649287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0E9DCC-B314-4543-AC94-8147CC54C8CE}"/>
              </a:ext>
            </a:extLst>
          </p:cNvPr>
          <p:cNvCxnSpPr>
            <a:cxnSpLocks/>
          </p:cNvCxnSpPr>
          <p:nvPr userDrawn="1"/>
        </p:nvCxnSpPr>
        <p:spPr>
          <a:xfrm flipV="1">
            <a:off x="3582785" y="1769226"/>
            <a:ext cx="5029200" cy="2449483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7E7BFCA-87DA-451C-8DDE-CF2B427D635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3523441" y="4305416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0BAF78F-886D-46E6-8F86-8B0B230914D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472632" y="1682518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ADB099A3-47D0-4D28-B65D-E36B174DEDA5}"/>
              </a:ext>
            </a:extLst>
          </p:cNvPr>
          <p:cNvSpPr/>
          <p:nvPr userDrawn="1"/>
        </p:nvSpPr>
        <p:spPr>
          <a:xfrm>
            <a:off x="7431575" y="2247324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BCDFC52-ADB5-4748-90A3-845D72036E0E}"/>
              </a:ext>
            </a:extLst>
          </p:cNvPr>
          <p:cNvSpPr/>
          <p:nvPr userDrawn="1"/>
        </p:nvSpPr>
        <p:spPr>
          <a:xfrm>
            <a:off x="5065266" y="3391980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C701364-C1A5-49F4-90B8-F9B501943C76}"/>
              </a:ext>
            </a:extLst>
          </p:cNvPr>
          <p:cNvSpPr/>
          <p:nvPr userDrawn="1"/>
        </p:nvSpPr>
        <p:spPr>
          <a:xfrm>
            <a:off x="10395109" y="1713851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E38C180-8D52-426D-AD1B-1E6043F09C5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944495" y="465988"/>
            <a:ext cx="3045228" cy="1194319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807EE65-B061-4C53-BADA-D36110CE360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573386" y="3827204"/>
            <a:ext cx="3045228" cy="1194319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D9C866A7-CA2C-4982-A9A6-2E2E0C388165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801982" y="857411"/>
            <a:ext cx="3045228" cy="1194319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AA804AE-78BB-494D-B737-B208710B3362}"/>
              </a:ext>
            </a:extLst>
          </p:cNvPr>
          <p:cNvSpPr/>
          <p:nvPr userDrawn="1"/>
        </p:nvSpPr>
        <p:spPr>
          <a:xfrm>
            <a:off x="1688913" y="4130083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 descr="Shape, circle&#10;&#10;Description automatically generated">
            <a:extLst>
              <a:ext uri="{FF2B5EF4-FFF2-40B4-BE49-F238E27FC236}">
                <a16:creationId xmlns:a16="http://schemas.microsoft.com/office/drawing/2014/main" id="{09502432-9EDD-40AA-8ADC-459056F70B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1534" y="2265775"/>
            <a:ext cx="448892" cy="448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944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0112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Blu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0BC08D5-0DAF-4366-B3F2-51F5FB1A65A4}"/>
              </a:ext>
            </a:extLst>
          </p:cNvPr>
          <p:cNvSpPr/>
          <p:nvPr userDrawn="1"/>
        </p:nvSpPr>
        <p:spPr>
          <a:xfrm>
            <a:off x="0" y="0"/>
            <a:ext cx="12192000" cy="1473573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9" y="159361"/>
            <a:ext cx="10831484" cy="117289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68183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93BC823-25AD-4AD9-9C76-137A5987DD47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56262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C5E7E-33CA-4723-BA41-A8996946B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93605"/>
            <a:ext cx="10515600" cy="2852737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2FB6F4-4E4B-4CAA-926B-0B169BF4C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373330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040AC-07B4-4C69-9091-B7C592D26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2837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750A923-098C-48C7-9982-1C3C4832FEA1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BC5E7E-33CA-4723-BA41-A8996946B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93605"/>
            <a:ext cx="10515600" cy="2852737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2FB6F4-4E4B-4CAA-926B-0B169BF4C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373330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040AC-07B4-4C69-9091-B7C592D26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40915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1EBE5-674C-4F25-860A-961EACC1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6A503-0683-466C-8706-D4D3074AD1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42988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B2C021-ECDD-4B16-9607-D0D375FCD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42988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538E7-D19B-434A-870C-CB0076095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93602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2F22621-2D6E-479F-8821-4611BC4453A3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01EBE5-674C-4F25-860A-961EACC1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6A503-0683-466C-8706-D4D3074AD1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42988"/>
            <a:ext cx="5181600" cy="4351338"/>
          </a:xfrm>
        </p:spPr>
        <p:txBody>
          <a:bodyPr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B2C021-ECDD-4B16-9607-D0D375FCD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42988"/>
            <a:ext cx="5181600" cy="4351338"/>
          </a:xfrm>
        </p:spPr>
        <p:txBody>
          <a:bodyPr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538E7-D19B-434A-870C-CB0076095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22097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6CBD4-C1C9-4FDF-9706-063FC4F31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48887"/>
            <a:ext cx="10515600" cy="9342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086FA-DE3C-49B9-8F22-BDD226231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73592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240C4-F819-4959-BD54-5CF6E66B4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197504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6E805D-55F6-4356-A3DA-08E482F07E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73592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09213C-E1A9-4849-87F9-A69C51E8E2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97504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EE93F9-5EA7-4278-87E7-2FCA41D3B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01208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D1C2473-927A-44B0-A86D-25C89BEDD493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A6CBD4-C1C9-4FDF-9706-063FC4F31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48887"/>
            <a:ext cx="10515600" cy="93423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086FA-DE3C-49B9-8F22-BDD226231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73592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240C4-F819-4959-BD54-5CF6E66B4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197504"/>
            <a:ext cx="5157787" cy="3684588"/>
          </a:xfrm>
        </p:spPr>
        <p:txBody>
          <a:bodyPr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6E805D-55F6-4356-A3DA-08E482F07E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73592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09213C-E1A9-4849-87F9-A69C51E8E2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97504"/>
            <a:ext cx="5183188" cy="3684588"/>
          </a:xfrm>
        </p:spPr>
        <p:txBody>
          <a:bodyPr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EE93F9-5EA7-4278-87E7-2FCA41D3B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60030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128DB-F856-4E39-90AF-0EFDC9100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94380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_Blu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A3AD51F-981A-4696-B7D5-2A6174133470}"/>
              </a:ext>
            </a:extLst>
          </p:cNvPr>
          <p:cNvSpPr/>
          <p:nvPr userDrawn="1"/>
        </p:nvSpPr>
        <p:spPr>
          <a:xfrm>
            <a:off x="0" y="0"/>
            <a:ext cx="12192000" cy="1473573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1128DB-F856-4E39-90AF-0EFDC9100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9" y="184300"/>
            <a:ext cx="10831484" cy="117289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18349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B4302AE-3B79-468C-8619-E832B0865EBB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1128DB-F856-4E39-90AF-0EFDC9100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945095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itable 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92D2581-32B6-4D1F-A926-B16F996D8BA6}"/>
              </a:ext>
            </a:extLst>
          </p:cNvPr>
          <p:cNvGrpSpPr/>
          <p:nvPr userDrawn="1"/>
        </p:nvGrpSpPr>
        <p:grpSpPr>
          <a:xfrm>
            <a:off x="428260" y="1667860"/>
            <a:ext cx="4990908" cy="4046609"/>
            <a:chOff x="428260" y="2274687"/>
            <a:chExt cx="4990908" cy="4046609"/>
          </a:xfrm>
        </p:grpSpPr>
        <p:sp>
          <p:nvSpPr>
            <p:cNvPr id="10" name="VALUE BASED MEDICINE">
              <a:extLst>
                <a:ext uri="{FF2B5EF4-FFF2-40B4-BE49-F238E27FC236}">
                  <a16:creationId xmlns:a16="http://schemas.microsoft.com/office/drawing/2014/main" id="{B43958D4-D5E9-42A0-B4BF-9D941E2E3000}"/>
                </a:ext>
              </a:extLst>
            </p:cNvPr>
            <p:cNvSpPr/>
            <p:nvPr userDrawn="1"/>
          </p:nvSpPr>
          <p:spPr>
            <a:xfrm>
              <a:off x="1585101" y="2811772"/>
              <a:ext cx="2610531" cy="2610532"/>
            </a:xfrm>
            <a:prstGeom prst="ellipse">
              <a:avLst/>
            </a:prstGeom>
            <a:solidFill>
              <a:srgbClr val="FFFFFF"/>
            </a:solidFill>
            <a:ln w="215900" cap="flat">
              <a:solidFill>
                <a:srgbClr val="0FAAA0"/>
              </a:solidFill>
              <a:prstDash val="solid"/>
              <a:miter lim="400000"/>
            </a:ln>
            <a:effectLst>
              <a:outerShdw blurRad="381000" rotWithShape="0">
                <a:srgbClr val="000000">
                  <a:alpha val="75000"/>
                </a:srgbClr>
              </a:outerShdw>
            </a:effectLst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algn="ctr">
                <a:defRPr sz="1500" b="1">
                  <a:solidFill>
                    <a:srgbClr val="F7CF46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</a:lstStyle>
            <a:p>
              <a:endParaRPr>
                <a:solidFill>
                  <a:srgbClr val="00216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Rectangle">
              <a:extLst>
                <a:ext uri="{FF2B5EF4-FFF2-40B4-BE49-F238E27FC236}">
                  <a16:creationId xmlns:a16="http://schemas.microsoft.com/office/drawing/2014/main" id="{EEF1A243-BDF8-46F3-AE38-FA536F0431F7}"/>
                </a:ext>
              </a:extLst>
            </p:cNvPr>
            <p:cNvSpPr/>
            <p:nvPr/>
          </p:nvSpPr>
          <p:spPr>
            <a:xfrm>
              <a:off x="4186351" y="3979447"/>
              <a:ext cx="429007" cy="275181"/>
            </a:xfrm>
            <a:prstGeom prst="rect">
              <a:avLst/>
            </a:prstGeom>
            <a:solidFill>
              <a:srgbClr val="0FAAA0"/>
            </a:solidFill>
            <a:ln w="12700" cap="flat">
              <a:solidFill>
                <a:srgbClr val="0FAAA0"/>
              </a:solidFill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ectangle">
              <a:extLst>
                <a:ext uri="{FF2B5EF4-FFF2-40B4-BE49-F238E27FC236}">
                  <a16:creationId xmlns:a16="http://schemas.microsoft.com/office/drawing/2014/main" id="{0BE8BA15-96BC-480F-88F1-ADE54034DFA7}"/>
                </a:ext>
              </a:extLst>
            </p:cNvPr>
            <p:cNvSpPr/>
            <p:nvPr/>
          </p:nvSpPr>
          <p:spPr>
            <a:xfrm>
              <a:off x="1195216" y="3979447"/>
              <a:ext cx="429006" cy="275181"/>
            </a:xfrm>
            <a:prstGeom prst="rect">
              <a:avLst/>
            </a:prstGeom>
            <a:solidFill>
              <a:srgbClr val="0FAAA0"/>
            </a:solidFill>
            <a:ln w="12700" cap="flat">
              <a:solidFill>
                <a:srgbClr val="0FAAA0"/>
              </a:solidFill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Line">
              <a:extLst>
                <a:ext uri="{FF2B5EF4-FFF2-40B4-BE49-F238E27FC236}">
                  <a16:creationId xmlns:a16="http://schemas.microsoft.com/office/drawing/2014/main" id="{AF6F7448-51BF-4EF7-902C-B86C69D38FEA}"/>
                </a:ext>
              </a:extLst>
            </p:cNvPr>
            <p:cNvSpPr/>
            <p:nvPr/>
          </p:nvSpPr>
          <p:spPr>
            <a:xfrm>
              <a:off x="4929651" y="4199895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Line">
              <a:extLst>
                <a:ext uri="{FF2B5EF4-FFF2-40B4-BE49-F238E27FC236}">
                  <a16:creationId xmlns:a16="http://schemas.microsoft.com/office/drawing/2014/main" id="{97BAD08F-3478-4D7C-A8C0-412B41B9114F}"/>
                </a:ext>
              </a:extLst>
            </p:cNvPr>
            <p:cNvSpPr/>
            <p:nvPr/>
          </p:nvSpPr>
          <p:spPr>
            <a:xfrm rot="5400000">
              <a:off x="2645608" y="5953603"/>
              <a:ext cx="489518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Line">
              <a:extLst>
                <a:ext uri="{FF2B5EF4-FFF2-40B4-BE49-F238E27FC236}">
                  <a16:creationId xmlns:a16="http://schemas.microsoft.com/office/drawing/2014/main" id="{7D1E2077-C10F-40A2-AF84-ECAEDD38ACB0}"/>
                </a:ext>
              </a:extLst>
            </p:cNvPr>
            <p:cNvSpPr/>
            <p:nvPr/>
          </p:nvSpPr>
          <p:spPr>
            <a:xfrm rot="10800000" flipH="1">
              <a:off x="428260" y="4252795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Line">
              <a:extLst>
                <a:ext uri="{FF2B5EF4-FFF2-40B4-BE49-F238E27FC236}">
                  <a16:creationId xmlns:a16="http://schemas.microsoft.com/office/drawing/2014/main" id="{15A6A710-C41A-4D6C-B952-9688193BBB4A}"/>
                </a:ext>
              </a:extLst>
            </p:cNvPr>
            <p:cNvSpPr/>
            <p:nvPr/>
          </p:nvSpPr>
          <p:spPr>
            <a:xfrm rot="14340000" flipH="1">
              <a:off x="1380446" y="2396512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Line">
              <a:extLst>
                <a:ext uri="{FF2B5EF4-FFF2-40B4-BE49-F238E27FC236}">
                  <a16:creationId xmlns:a16="http://schemas.microsoft.com/office/drawing/2014/main" id="{10D60CD9-E971-41A5-8E4B-0B06D8ADE2BA}"/>
                </a:ext>
              </a:extLst>
            </p:cNvPr>
            <p:cNvSpPr/>
            <p:nvPr/>
          </p:nvSpPr>
          <p:spPr>
            <a:xfrm rot="18480000">
              <a:off x="4046781" y="2396512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878F9AA-7060-41EA-BB30-BF62F622D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59794" y="2615553"/>
            <a:ext cx="1481182" cy="1740319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800" b="1">
                <a:solidFill>
                  <a:srgbClr val="00216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356FC84-89BA-4195-99C9-68553608361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462303" y="2337196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EAF5783-3F0C-4E5A-9FD3-BDAAE417D419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043977" y="465085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F02FA9B-3DC8-421B-915E-4073D5B6916D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523802" y="464579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7586C69-682A-4A37-ACF2-594FDCF2D605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105476" y="2320970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1300FB2-1856-4D86-B9C9-E9A6A910CB1C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2283889" y="1088707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36575954-F2C9-43BD-9323-461121A27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258" y="70301"/>
            <a:ext cx="10831484" cy="919526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995862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itable circle_Blu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9A81A1-11D0-4E62-AA24-53AA7DAE0F1C}"/>
              </a:ext>
            </a:extLst>
          </p:cNvPr>
          <p:cNvSpPr/>
          <p:nvPr userDrawn="1"/>
        </p:nvSpPr>
        <p:spPr>
          <a:xfrm>
            <a:off x="0" y="1"/>
            <a:ext cx="12192000" cy="921288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92D2581-32B6-4D1F-A926-B16F996D8BA6}"/>
              </a:ext>
            </a:extLst>
          </p:cNvPr>
          <p:cNvGrpSpPr/>
          <p:nvPr userDrawn="1"/>
        </p:nvGrpSpPr>
        <p:grpSpPr>
          <a:xfrm>
            <a:off x="428260" y="1667860"/>
            <a:ext cx="4990908" cy="4046609"/>
            <a:chOff x="428260" y="2274687"/>
            <a:chExt cx="4990908" cy="4046609"/>
          </a:xfrm>
        </p:grpSpPr>
        <p:sp>
          <p:nvSpPr>
            <p:cNvPr id="10" name="VALUE BASED MEDICINE">
              <a:extLst>
                <a:ext uri="{FF2B5EF4-FFF2-40B4-BE49-F238E27FC236}">
                  <a16:creationId xmlns:a16="http://schemas.microsoft.com/office/drawing/2014/main" id="{B43958D4-D5E9-42A0-B4BF-9D941E2E3000}"/>
                </a:ext>
              </a:extLst>
            </p:cNvPr>
            <p:cNvSpPr/>
            <p:nvPr userDrawn="1"/>
          </p:nvSpPr>
          <p:spPr>
            <a:xfrm>
              <a:off x="1585101" y="2811772"/>
              <a:ext cx="2610531" cy="2610532"/>
            </a:xfrm>
            <a:prstGeom prst="ellipse">
              <a:avLst/>
            </a:prstGeom>
            <a:solidFill>
              <a:srgbClr val="FFFFFF"/>
            </a:solidFill>
            <a:ln w="215900" cap="flat">
              <a:solidFill>
                <a:srgbClr val="0FAAA0"/>
              </a:solidFill>
              <a:prstDash val="solid"/>
              <a:miter lim="400000"/>
            </a:ln>
            <a:effectLst>
              <a:outerShdw blurRad="381000" rotWithShape="0">
                <a:srgbClr val="000000">
                  <a:alpha val="75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algn="ctr">
                <a:defRPr sz="1500" b="1">
                  <a:solidFill>
                    <a:srgbClr val="F7CF46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</a:lstStyle>
            <a:p>
              <a:endParaRPr>
                <a:solidFill>
                  <a:srgbClr val="00216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Rectangle">
              <a:extLst>
                <a:ext uri="{FF2B5EF4-FFF2-40B4-BE49-F238E27FC236}">
                  <a16:creationId xmlns:a16="http://schemas.microsoft.com/office/drawing/2014/main" id="{EEF1A243-BDF8-46F3-AE38-FA536F0431F7}"/>
                </a:ext>
              </a:extLst>
            </p:cNvPr>
            <p:cNvSpPr/>
            <p:nvPr/>
          </p:nvSpPr>
          <p:spPr>
            <a:xfrm>
              <a:off x="4186351" y="3979447"/>
              <a:ext cx="429007" cy="275181"/>
            </a:xfrm>
            <a:prstGeom prst="rect">
              <a:avLst/>
            </a:prstGeom>
            <a:solidFill>
              <a:srgbClr val="0FAAA0"/>
            </a:solidFill>
            <a:ln w="12700" cap="flat">
              <a:solidFill>
                <a:srgbClr val="0FAAA0"/>
              </a:solidFill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ectangle">
              <a:extLst>
                <a:ext uri="{FF2B5EF4-FFF2-40B4-BE49-F238E27FC236}">
                  <a16:creationId xmlns:a16="http://schemas.microsoft.com/office/drawing/2014/main" id="{0BE8BA15-96BC-480F-88F1-ADE54034DFA7}"/>
                </a:ext>
              </a:extLst>
            </p:cNvPr>
            <p:cNvSpPr/>
            <p:nvPr/>
          </p:nvSpPr>
          <p:spPr>
            <a:xfrm>
              <a:off x="1195216" y="3979447"/>
              <a:ext cx="429006" cy="275181"/>
            </a:xfrm>
            <a:prstGeom prst="rect">
              <a:avLst/>
            </a:prstGeom>
            <a:solidFill>
              <a:srgbClr val="0FAAA0"/>
            </a:solidFill>
            <a:ln w="12700" cap="flat">
              <a:solidFill>
                <a:srgbClr val="0FAAA0"/>
              </a:solidFill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Line">
              <a:extLst>
                <a:ext uri="{FF2B5EF4-FFF2-40B4-BE49-F238E27FC236}">
                  <a16:creationId xmlns:a16="http://schemas.microsoft.com/office/drawing/2014/main" id="{AF6F7448-51BF-4EF7-902C-B86C69D38FEA}"/>
                </a:ext>
              </a:extLst>
            </p:cNvPr>
            <p:cNvSpPr/>
            <p:nvPr/>
          </p:nvSpPr>
          <p:spPr>
            <a:xfrm>
              <a:off x="4929651" y="4199895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Line">
              <a:extLst>
                <a:ext uri="{FF2B5EF4-FFF2-40B4-BE49-F238E27FC236}">
                  <a16:creationId xmlns:a16="http://schemas.microsoft.com/office/drawing/2014/main" id="{97BAD08F-3478-4D7C-A8C0-412B41B9114F}"/>
                </a:ext>
              </a:extLst>
            </p:cNvPr>
            <p:cNvSpPr/>
            <p:nvPr/>
          </p:nvSpPr>
          <p:spPr>
            <a:xfrm rot="5400000">
              <a:off x="2645608" y="5953603"/>
              <a:ext cx="489518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Line">
              <a:extLst>
                <a:ext uri="{FF2B5EF4-FFF2-40B4-BE49-F238E27FC236}">
                  <a16:creationId xmlns:a16="http://schemas.microsoft.com/office/drawing/2014/main" id="{7D1E2077-C10F-40A2-AF84-ECAEDD38ACB0}"/>
                </a:ext>
              </a:extLst>
            </p:cNvPr>
            <p:cNvSpPr/>
            <p:nvPr/>
          </p:nvSpPr>
          <p:spPr>
            <a:xfrm rot="10800000" flipH="1">
              <a:off x="428260" y="4252795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Line">
              <a:extLst>
                <a:ext uri="{FF2B5EF4-FFF2-40B4-BE49-F238E27FC236}">
                  <a16:creationId xmlns:a16="http://schemas.microsoft.com/office/drawing/2014/main" id="{15A6A710-C41A-4D6C-B952-9688193BBB4A}"/>
                </a:ext>
              </a:extLst>
            </p:cNvPr>
            <p:cNvSpPr/>
            <p:nvPr/>
          </p:nvSpPr>
          <p:spPr>
            <a:xfrm rot="14340000" flipH="1">
              <a:off x="1380446" y="2396512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Line">
              <a:extLst>
                <a:ext uri="{FF2B5EF4-FFF2-40B4-BE49-F238E27FC236}">
                  <a16:creationId xmlns:a16="http://schemas.microsoft.com/office/drawing/2014/main" id="{10D60CD9-E971-41A5-8E4B-0B06D8ADE2BA}"/>
                </a:ext>
              </a:extLst>
            </p:cNvPr>
            <p:cNvSpPr/>
            <p:nvPr/>
          </p:nvSpPr>
          <p:spPr>
            <a:xfrm rot="18480000">
              <a:off x="4046781" y="2396512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878F9AA-7060-41EA-BB30-BF62F622D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59794" y="2615553"/>
            <a:ext cx="1481182" cy="1740319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800" b="1">
                <a:solidFill>
                  <a:srgbClr val="00216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356FC84-89BA-4195-99C9-68553608361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462303" y="2337196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EAF5783-3F0C-4E5A-9FD3-BDAAE417D419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043977" y="465085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F02FA9B-3DC8-421B-915E-4073D5B6916D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523802" y="464579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7586C69-682A-4A37-ACF2-594FDCF2D605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105476" y="2320970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1300FB2-1856-4D86-B9C9-E9A6A910CB1C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2283889" y="1088707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23F5E2AF-E901-4374-9B97-C3B71042F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258" y="70301"/>
            <a:ext cx="10831484" cy="91952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350281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itable circl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E17D79D3-F462-4D57-8473-BC60B3291F59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VALUE BASED MEDICINE">
            <a:extLst>
              <a:ext uri="{FF2B5EF4-FFF2-40B4-BE49-F238E27FC236}">
                <a16:creationId xmlns:a16="http://schemas.microsoft.com/office/drawing/2014/main" id="{B43958D4-D5E9-42A0-B4BF-9D941E2E3000}"/>
              </a:ext>
            </a:extLst>
          </p:cNvPr>
          <p:cNvSpPr/>
          <p:nvPr userDrawn="1"/>
        </p:nvSpPr>
        <p:spPr>
          <a:xfrm>
            <a:off x="1585101" y="2204945"/>
            <a:ext cx="2610531" cy="2610532"/>
          </a:xfrm>
          <a:prstGeom prst="ellipse">
            <a:avLst/>
          </a:prstGeom>
          <a:solidFill>
            <a:srgbClr val="FFFFFF"/>
          </a:solidFill>
          <a:ln w="215900" cap="flat">
            <a:solidFill>
              <a:srgbClr val="0FAAA0"/>
            </a:solidFill>
            <a:prstDash val="solid"/>
            <a:miter lim="400000"/>
          </a:ln>
          <a:effectLst>
            <a:outerShdw blurRad="3810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0800" tIns="50800" rIns="50800" bIns="50800" numCol="1" anchor="t">
            <a:noAutofit/>
          </a:bodyPr>
          <a:lstStyle>
            <a:lvl1pPr algn="ctr">
              <a:defRPr sz="1500" b="1">
                <a:solidFill>
                  <a:srgbClr val="F7CF4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endParaRPr>
              <a:solidFill>
                <a:srgbClr val="00216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EEF1A243-BDF8-46F3-AE38-FA536F0431F7}"/>
              </a:ext>
            </a:extLst>
          </p:cNvPr>
          <p:cNvSpPr/>
          <p:nvPr/>
        </p:nvSpPr>
        <p:spPr>
          <a:xfrm>
            <a:off x="4186351" y="3372620"/>
            <a:ext cx="429007" cy="275181"/>
          </a:xfrm>
          <a:prstGeom prst="rect">
            <a:avLst/>
          </a:prstGeom>
          <a:solidFill>
            <a:srgbClr val="0FAAA0"/>
          </a:solidFill>
          <a:ln w="12700" cap="flat">
            <a:solidFill>
              <a:srgbClr val="0FAAA0"/>
            </a:solidFill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">
            <a:extLst>
              <a:ext uri="{FF2B5EF4-FFF2-40B4-BE49-F238E27FC236}">
                <a16:creationId xmlns:a16="http://schemas.microsoft.com/office/drawing/2014/main" id="{0BE8BA15-96BC-480F-88F1-ADE54034DFA7}"/>
              </a:ext>
            </a:extLst>
          </p:cNvPr>
          <p:cNvSpPr/>
          <p:nvPr/>
        </p:nvSpPr>
        <p:spPr>
          <a:xfrm>
            <a:off x="1195216" y="3372620"/>
            <a:ext cx="429006" cy="275181"/>
          </a:xfrm>
          <a:prstGeom prst="rect">
            <a:avLst/>
          </a:prstGeom>
          <a:solidFill>
            <a:srgbClr val="0FAAA0"/>
          </a:solidFill>
          <a:ln w="12700" cap="flat">
            <a:solidFill>
              <a:srgbClr val="0FAAA0"/>
            </a:solidFill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Line">
            <a:extLst>
              <a:ext uri="{FF2B5EF4-FFF2-40B4-BE49-F238E27FC236}">
                <a16:creationId xmlns:a16="http://schemas.microsoft.com/office/drawing/2014/main" id="{AF6F7448-51BF-4EF7-902C-B86C69D38FEA}"/>
              </a:ext>
            </a:extLst>
          </p:cNvPr>
          <p:cNvSpPr/>
          <p:nvPr/>
        </p:nvSpPr>
        <p:spPr>
          <a:xfrm>
            <a:off x="4929651" y="3593068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noFill/>
          <a:ln w="76200" cap="flat">
            <a:solidFill>
              <a:srgbClr val="0FAAA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97BAD08F-3478-4D7C-A8C0-412B41B9114F}"/>
              </a:ext>
            </a:extLst>
          </p:cNvPr>
          <p:cNvSpPr/>
          <p:nvPr/>
        </p:nvSpPr>
        <p:spPr>
          <a:xfrm rot="5400000">
            <a:off x="2645608" y="5346776"/>
            <a:ext cx="489518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noFill/>
          <a:ln w="76200" cap="flat">
            <a:solidFill>
              <a:srgbClr val="0FAAA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Line">
            <a:extLst>
              <a:ext uri="{FF2B5EF4-FFF2-40B4-BE49-F238E27FC236}">
                <a16:creationId xmlns:a16="http://schemas.microsoft.com/office/drawing/2014/main" id="{7D1E2077-C10F-40A2-AF84-ECAEDD38ACB0}"/>
              </a:ext>
            </a:extLst>
          </p:cNvPr>
          <p:cNvSpPr/>
          <p:nvPr/>
        </p:nvSpPr>
        <p:spPr>
          <a:xfrm rot="10800000" flipH="1">
            <a:off x="428260" y="3645968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noFill/>
          <a:ln w="76200" cap="flat">
            <a:solidFill>
              <a:srgbClr val="0FAAA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Line">
            <a:extLst>
              <a:ext uri="{FF2B5EF4-FFF2-40B4-BE49-F238E27FC236}">
                <a16:creationId xmlns:a16="http://schemas.microsoft.com/office/drawing/2014/main" id="{15A6A710-C41A-4D6C-B952-9688193BBB4A}"/>
              </a:ext>
            </a:extLst>
          </p:cNvPr>
          <p:cNvSpPr/>
          <p:nvPr/>
        </p:nvSpPr>
        <p:spPr>
          <a:xfrm rot="14340000" flipH="1">
            <a:off x="1380446" y="1789685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noFill/>
          <a:ln w="76200" cap="flat">
            <a:solidFill>
              <a:srgbClr val="0FAAA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Line">
            <a:extLst>
              <a:ext uri="{FF2B5EF4-FFF2-40B4-BE49-F238E27FC236}">
                <a16:creationId xmlns:a16="http://schemas.microsoft.com/office/drawing/2014/main" id="{10D60CD9-E971-41A5-8E4B-0B06D8ADE2BA}"/>
              </a:ext>
            </a:extLst>
          </p:cNvPr>
          <p:cNvSpPr/>
          <p:nvPr/>
        </p:nvSpPr>
        <p:spPr>
          <a:xfrm rot="18480000">
            <a:off x="4046781" y="1789685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noFill/>
          <a:ln w="76200" cap="flat">
            <a:solidFill>
              <a:srgbClr val="0FAAA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878F9AA-7060-41EA-BB30-BF62F622D7F2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2159794" y="2615553"/>
            <a:ext cx="1481182" cy="1740319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800" b="1">
                <a:solidFill>
                  <a:srgbClr val="00216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356FC84-89BA-4195-99C9-685536083613}"/>
              </a:ext>
            </a:extLst>
          </p:cNvPr>
          <p:cNvSpPr>
            <a:spLocks noGrp="1"/>
          </p:cNvSpPr>
          <p:nvPr userDrawn="1">
            <p:ph type="body" idx="13"/>
          </p:nvPr>
        </p:nvSpPr>
        <p:spPr>
          <a:xfrm>
            <a:off x="4462303" y="2337196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EAF5783-3F0C-4E5A-9FD3-BDAAE417D419}"/>
              </a:ext>
            </a:extLst>
          </p:cNvPr>
          <p:cNvSpPr>
            <a:spLocks noGrp="1"/>
          </p:cNvSpPr>
          <p:nvPr userDrawn="1">
            <p:ph type="body" idx="14"/>
          </p:nvPr>
        </p:nvSpPr>
        <p:spPr>
          <a:xfrm>
            <a:off x="4043977" y="465085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F02FA9B-3DC8-421B-915E-4073D5B6916D}"/>
              </a:ext>
            </a:extLst>
          </p:cNvPr>
          <p:cNvSpPr>
            <a:spLocks noGrp="1"/>
          </p:cNvSpPr>
          <p:nvPr userDrawn="1">
            <p:ph type="body" idx="15"/>
          </p:nvPr>
        </p:nvSpPr>
        <p:spPr>
          <a:xfrm>
            <a:off x="523802" y="464579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7586C69-682A-4A37-ACF2-594FDCF2D605}"/>
              </a:ext>
            </a:extLst>
          </p:cNvPr>
          <p:cNvSpPr>
            <a:spLocks noGrp="1"/>
          </p:cNvSpPr>
          <p:nvPr userDrawn="1">
            <p:ph type="body" idx="16"/>
          </p:nvPr>
        </p:nvSpPr>
        <p:spPr>
          <a:xfrm>
            <a:off x="105476" y="2320970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1300FB2-1856-4D86-B9C9-E9A6A910CB1C}"/>
              </a:ext>
            </a:extLst>
          </p:cNvPr>
          <p:cNvSpPr>
            <a:spLocks noGrp="1"/>
          </p:cNvSpPr>
          <p:nvPr userDrawn="1">
            <p:ph type="body" idx="17"/>
          </p:nvPr>
        </p:nvSpPr>
        <p:spPr>
          <a:xfrm>
            <a:off x="2283889" y="1088707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9E6CD5C8-34DD-4E24-998C-11AAC35BE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258" y="70301"/>
            <a:ext cx="10831484" cy="91952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18616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I B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988B2F-71B7-454C-8FFF-0F8573610DF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100" b="15194"/>
          <a:stretch/>
        </p:blipFill>
        <p:spPr>
          <a:xfrm>
            <a:off x="399010" y="180447"/>
            <a:ext cx="823039" cy="578001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3839ED4-D046-4A18-A9B9-442A09B6D9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3686" t="91359"/>
          <a:stretch/>
        </p:blipFill>
        <p:spPr>
          <a:xfrm>
            <a:off x="3345279" y="-137561"/>
            <a:ext cx="9048997" cy="58890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15293C-0950-4C43-A08F-AD0F85A73202}"/>
              </a:ext>
            </a:extLst>
          </p:cNvPr>
          <p:cNvSpPr/>
          <p:nvPr userDrawn="1"/>
        </p:nvSpPr>
        <p:spPr>
          <a:xfrm>
            <a:off x="0" y="6101542"/>
            <a:ext cx="2568633" cy="748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4" name="Picture 13" descr="Text&#10;&#10;Description automatically generated">
            <a:extLst>
              <a:ext uri="{FF2B5EF4-FFF2-40B4-BE49-F238E27FC236}">
                <a16:creationId xmlns:a16="http://schemas.microsoft.com/office/drawing/2014/main" id="{7DB4BAA8-A272-4430-892B-017985FFE6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347" b="26027"/>
          <a:stretch/>
        </p:blipFill>
        <p:spPr>
          <a:xfrm>
            <a:off x="198750" y="6207402"/>
            <a:ext cx="1223558" cy="514073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4719756-10E6-4313-AEFC-9809296AC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54" y="132667"/>
            <a:ext cx="4396629" cy="508424"/>
          </a:xfrm>
          <a:solidFill>
            <a:schemeClr val="bg1"/>
          </a:solidFill>
        </p:spPr>
        <p:txBody>
          <a:bodyPr>
            <a:normAutofit/>
          </a:bodyPr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51669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I Border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59AFDDB-A5DB-452E-A75C-2CEA5E9C4295}"/>
              </a:ext>
            </a:extLst>
          </p:cNvPr>
          <p:cNvSpPr/>
          <p:nvPr userDrawn="1"/>
        </p:nvSpPr>
        <p:spPr>
          <a:xfrm>
            <a:off x="0" y="-1"/>
            <a:ext cx="12192000" cy="59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7FBF07C-BE6B-4C3E-AA82-C63F5D90BE2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100" b="150"/>
          <a:stretch/>
        </p:blipFill>
        <p:spPr>
          <a:xfrm>
            <a:off x="399010" y="171900"/>
            <a:ext cx="823039" cy="680536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BE2752B-3BDE-452F-90CE-823C2B956E99}"/>
              </a:ext>
            </a:extLst>
          </p:cNvPr>
          <p:cNvSpPr/>
          <p:nvPr userDrawn="1"/>
        </p:nvSpPr>
        <p:spPr>
          <a:xfrm>
            <a:off x="0" y="5993296"/>
            <a:ext cx="12192000" cy="983973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FF22ABE-0704-4AB0-84F9-524EAE8029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3686" t="91359"/>
          <a:stretch/>
        </p:blipFill>
        <p:spPr>
          <a:xfrm>
            <a:off x="3345279" y="-146107"/>
            <a:ext cx="9165376" cy="588908"/>
          </a:xfrm>
          <a:prstGeom prst="rect">
            <a:avLst/>
          </a:prstGeom>
        </p:spPr>
      </p:pic>
      <p:pic>
        <p:nvPicPr>
          <p:cNvPr id="13" name="Picture 12" descr="Text&#10;&#10;Description automatically generated">
            <a:extLst>
              <a:ext uri="{FF2B5EF4-FFF2-40B4-BE49-F238E27FC236}">
                <a16:creationId xmlns:a16="http://schemas.microsoft.com/office/drawing/2014/main" id="{D34532DB-6542-469D-96AE-BF31669C76A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8110" y="6122505"/>
            <a:ext cx="1568969" cy="532143"/>
          </a:xfrm>
          <a:prstGeom prst="rect">
            <a:avLst/>
          </a:prstGeom>
        </p:spPr>
      </p:pic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6E1A9FFB-E41A-4B0F-9B47-B5A23599B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D8CEE8-68BA-493D-A9B0-0387ED15E64E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92B2FAF8-5A55-44EA-9B60-4A6778E188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347" b="26142"/>
          <a:stretch/>
        </p:blipFill>
        <p:spPr>
          <a:xfrm>
            <a:off x="198750" y="6208203"/>
            <a:ext cx="1223558" cy="51327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24DC055-16B5-4CB6-BA19-D5378EA9F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54" y="132667"/>
            <a:ext cx="4396629" cy="508424"/>
          </a:xfrm>
          <a:solidFill>
            <a:schemeClr val="bg1"/>
          </a:solidFill>
        </p:spPr>
        <p:txBody>
          <a:bodyPr>
            <a:normAutofit/>
          </a:bodyPr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39517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I Border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44CF0CA-3830-4D2A-8AEA-767F566A7BE2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DCA82B-CB34-4403-8464-021DA2C4C5D3}"/>
              </a:ext>
            </a:extLst>
          </p:cNvPr>
          <p:cNvSpPr/>
          <p:nvPr userDrawn="1"/>
        </p:nvSpPr>
        <p:spPr>
          <a:xfrm>
            <a:off x="0" y="6139583"/>
            <a:ext cx="2633870" cy="7184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C983119-A35A-456B-AC99-E510D9B7DEE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r="93100" b="9260"/>
          <a:stretch/>
        </p:blipFill>
        <p:spPr>
          <a:xfrm>
            <a:off x="399010" y="171901"/>
            <a:ext cx="823039" cy="618444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A389BF9B-3DC6-477C-BB75-03102A36C6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3686" t="91359"/>
          <a:stretch/>
        </p:blipFill>
        <p:spPr>
          <a:xfrm>
            <a:off x="3345279" y="-146107"/>
            <a:ext cx="9165376" cy="588908"/>
          </a:xfrm>
          <a:prstGeom prst="rect">
            <a:avLst/>
          </a:prstGeom>
        </p:spPr>
      </p:pic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F77B81E4-97A0-497B-A2BC-E278DFB612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347" b="26027"/>
          <a:stretch/>
        </p:blipFill>
        <p:spPr>
          <a:xfrm>
            <a:off x="198750" y="6207402"/>
            <a:ext cx="1223558" cy="51407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C961B769-9B18-4203-ADA3-16B4F0913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54" y="132667"/>
            <a:ext cx="4396629" cy="508424"/>
          </a:xfrm>
          <a:solidFill>
            <a:srgbClr val="002161"/>
          </a:solidFill>
        </p:spPr>
        <p:txBody>
          <a:bodyPr>
            <a:normAutofit/>
          </a:bodyPr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249168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With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11062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With Logos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A0A727-5D92-4518-B925-971DBDAC7428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714041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730E3CD-70D1-4C69-9C77-168FE633FBA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428299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73EAB80-AFE4-42FA-B0B4-0554AE22D8C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D8CEE8-68BA-493D-A9B0-0387ED15E64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752790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F24CD-2382-4F06-8F30-5795F776D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66253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22E97-AB26-4243-A5A1-24AEDFD1E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96478"/>
            <a:ext cx="6172200" cy="487362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90159A-68E2-496F-B2A2-3CACFCF82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66453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BE9DAD-0A8B-4221-A88F-6442BA1F7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087974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2C9EAFD-F666-401F-968B-9591351CCE1D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7F24CD-2382-4F06-8F30-5795F776D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662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22E97-AB26-4243-A5A1-24AEDFD1E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96478"/>
            <a:ext cx="6172200" cy="4873625"/>
          </a:xfrm>
        </p:spPr>
        <p:txBody>
          <a:bodyPr>
            <a:normAutofit/>
          </a:bodyPr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800"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800"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800"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800"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8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90159A-68E2-496F-B2A2-3CACFCF82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66453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BE9DAD-0A8B-4221-A88F-6442BA1F7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370687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B1F06-B565-4BD3-840C-48FF65308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15882"/>
            <a:ext cx="3932237" cy="132588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70270E-DB9F-4DE7-9AB0-5664955D1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57178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E7EDC7-BD72-4320-A72B-02B14DFF36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41762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E2C500-1FC7-4063-9CA1-4A0F2547D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006020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5E32BC-F94E-4D18-9820-291DD397F0E4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AB1F06-B565-4BD3-840C-48FF65308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15882"/>
            <a:ext cx="3932237" cy="132588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70270E-DB9F-4DE7-9AB0-5664955D1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571787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E7EDC7-BD72-4320-A72B-02B14DFF36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41762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E2C500-1FC7-4063-9CA1-4A0F2547D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567443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74F5D-2719-4563-BBD4-B0744EA58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290E61-87AA-4AE5-86CC-A1696E9DB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51401-849E-413C-82AF-8BECC024C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512027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CC0AB6C-2CCC-4163-BB27-CCE3ADD0D603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A74F5D-2719-4563-BBD4-B0744EA58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290E61-87AA-4AE5-86CC-A1696E9DB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51401-849E-413C-82AF-8BECC024C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992438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B7E91D-A3E6-4BAF-B0FC-1B5CFD107E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36525"/>
            <a:ext cx="2628900" cy="57328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5EC61-8BC7-4882-99C0-93991D97A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36525"/>
            <a:ext cx="7734300" cy="57328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E89E2-C8B1-4305-BA41-D3823F9B5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070921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763D8DE-517E-4FA4-8CCE-5080BCEEB93E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B7E91D-A3E6-4BAF-B0FC-1B5CFD107E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36525"/>
            <a:ext cx="2628900" cy="5732864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5EC61-8BC7-4882-99C0-93991D97A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36525"/>
            <a:ext cx="7734300" cy="5732864"/>
          </a:xfrm>
        </p:spPr>
        <p:txBody>
          <a:bodyPr vert="eaVert"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E89E2-C8B1-4305-BA41-D3823F9B5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9591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theme" Target="../theme/theme1.xml"/><Relationship Id="rId44" Type="http://schemas.openxmlformats.org/officeDocument/2006/relationships/image" Target="../media/image1.png"/><Relationship Id="rId45" Type="http://schemas.openxmlformats.org/officeDocument/2006/relationships/image" Target="../media/image2.png"/><Relationship Id="rId46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5E79FB-2F8C-48E9-990A-13A4005A3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9" y="300682"/>
            <a:ext cx="10831484" cy="11728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6897A-9DCA-4AB4-8D3D-0B57DD331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018" y="1608511"/>
            <a:ext cx="10831485" cy="41233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F2008-2B04-4F58-91D1-E1718EE042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37266" y="6356350"/>
            <a:ext cx="19174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C39145-C6AC-4BA0-B78E-33298A8EE97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Picture 7" descr="Text&#10;&#10;Description automatically generated with medium confidence">
            <a:extLst>
              <a:ext uri="{FF2B5EF4-FFF2-40B4-BE49-F238E27FC236}">
                <a16:creationId xmlns:a16="http://schemas.microsoft.com/office/drawing/2014/main" id="{11501ED8-EFCE-4C87-B955-CFF11524A643}"/>
              </a:ext>
            </a:extLst>
          </p:cNvPr>
          <p:cNvPicPr>
            <a:picLocks noChangeAspect="1"/>
          </p:cNvPicPr>
          <p:nvPr userDrawn="1"/>
        </p:nvPicPr>
        <p:blipFill>
          <a:blip r:embed="rId4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7539" y="6143169"/>
            <a:ext cx="1562793" cy="530047"/>
          </a:xfrm>
          <a:prstGeom prst="rect">
            <a:avLst/>
          </a:prstGeom>
        </p:spPr>
      </p:pic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1C75DFB3-D7B2-43C5-B305-9ED642CD94D9}"/>
              </a:ext>
            </a:extLst>
          </p:cNvPr>
          <p:cNvPicPr>
            <a:picLocks noChangeAspect="1"/>
          </p:cNvPicPr>
          <p:nvPr userDrawn="1"/>
        </p:nvPicPr>
        <p:blipFill>
          <a:blip r:embed="rId4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68" y="6164429"/>
            <a:ext cx="2006140" cy="50878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5C7C406-AA6F-47DB-82CD-3BD2D9AF8CB0}"/>
              </a:ext>
            </a:extLst>
          </p:cNvPr>
          <p:cNvCxnSpPr/>
          <p:nvPr userDrawn="1"/>
        </p:nvCxnSpPr>
        <p:spPr>
          <a:xfrm>
            <a:off x="0" y="5960225"/>
            <a:ext cx="12192000" cy="0"/>
          </a:xfrm>
          <a:prstGeom prst="line">
            <a:avLst/>
          </a:prstGeom>
          <a:ln w="12700">
            <a:solidFill>
              <a:srgbClr val="0021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7803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012467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46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46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46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46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46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35435-1877-4AC5-B689-C33B86FF2C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3875" y="2428674"/>
            <a:ext cx="11144250" cy="1838526"/>
          </a:xfrm>
        </p:spPr>
        <p:txBody>
          <a:bodyPr/>
          <a:lstStyle/>
          <a:p>
            <a:r>
              <a:rPr lang="en-GB" i="0">
                <a:latin typeface="Arial"/>
                <a:cs typeface="Arial"/>
              </a:rPr>
              <a:t>Discharge Flow Programme Closure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7712D2-447D-47C9-93C1-06A318021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16060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i="0">
                <a:latin typeface="Arial"/>
                <a:cs typeface="Arial"/>
              </a:rPr>
              <a:t>30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926244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157" y="261423"/>
            <a:ext cx="5575774" cy="680286"/>
          </a:xfrm>
        </p:spPr>
        <p:txBody>
          <a:bodyPr>
            <a:normAutofit/>
          </a:bodyPr>
          <a:lstStyle/>
          <a:p>
            <a:r>
              <a:rPr lang="en-GB" sz="2800" dirty="0">
                <a:latin typeface="Arial"/>
                <a:cs typeface="Arial"/>
              </a:rPr>
              <a:t>Programme Closure Summary</a:t>
            </a:r>
          </a:p>
        </p:txBody>
      </p:sp>
      <p:sp>
        <p:nvSpPr>
          <p:cNvPr id="11" name="Rounded Rectangle 32">
            <a:extLst>
              <a:ext uri="{FF2B5EF4-FFF2-40B4-BE49-F238E27FC236}">
                <a16:creationId xmlns:a16="http://schemas.microsoft.com/office/drawing/2014/main" id="{DFA15E4E-B652-4DCA-AEDD-2A0602CEEE95}"/>
              </a:ext>
            </a:extLst>
          </p:cNvPr>
          <p:cNvSpPr/>
          <p:nvPr/>
        </p:nvSpPr>
        <p:spPr>
          <a:xfrm>
            <a:off x="469797" y="1021551"/>
            <a:ext cx="3621435" cy="1721647"/>
          </a:xfrm>
          <a:prstGeom prst="roundRect">
            <a:avLst>
              <a:gd name="adj" fmla="val 1713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5720" rIns="90000" bIns="45720" rtlCol="0" anchor="t"/>
          <a:lstStyle/>
          <a:p>
            <a:pPr algn="ctr">
              <a:spcAft>
                <a:spcPts val="1200"/>
              </a:spcAft>
            </a:pPr>
            <a:r>
              <a:rPr lang="en-GB" sz="1100" b="1" dirty="0">
                <a:solidFill>
                  <a:srgbClr val="002060"/>
                </a:solidFill>
                <a:latin typeface="Arial"/>
                <a:cs typeface="Arial"/>
              </a:rPr>
              <a:t>Programme Overview and Reason for Closure</a:t>
            </a:r>
            <a:endParaRPr lang="en-US" dirty="0">
              <a:solidFill>
                <a:srgbClr val="FFFFFF"/>
              </a:solidFill>
              <a:latin typeface="Arial"/>
              <a:cs typeface="Arial"/>
            </a:endParaRPr>
          </a:p>
          <a:p>
            <a:pPr algn="ctr">
              <a:spcAft>
                <a:spcPts val="1200"/>
              </a:spcAft>
            </a:pPr>
            <a:r>
              <a:rPr lang="en-GB" sz="800" i="0">
                <a:solidFill>
                  <a:srgbClr val="000000"/>
                </a:solidFill>
                <a:latin typeface="Arial"/>
                <a:cs typeface="Arial"/>
              </a:rPr>
              <a:t>Aim: 33% of discharges before midday on 8 medical wards and 0.5 days off average length of stay by September 2026. Closing as planned: CITI support ends and the work is handed to the Clinical Group.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5AB8ED6-D563-4F00-9499-22DA866FC525}"/>
              </a:ext>
            </a:extLst>
          </p:cNvPr>
          <p:cNvCxnSpPr>
            <a:cxnSpLocks/>
          </p:cNvCxnSpPr>
          <p:nvPr/>
        </p:nvCxnSpPr>
        <p:spPr>
          <a:xfrm flipH="1">
            <a:off x="606797" y="1306649"/>
            <a:ext cx="3253170" cy="0"/>
          </a:xfrm>
          <a:prstGeom prst="line">
            <a:avLst/>
          </a:prstGeom>
          <a:ln w="9525"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50">
            <a:extLst>
              <a:ext uri="{FF2B5EF4-FFF2-40B4-BE49-F238E27FC236}">
                <a16:creationId xmlns:a16="http://schemas.microsoft.com/office/drawing/2014/main" id="{8375B42B-68D2-4618-993F-643C35C4F9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7803719"/>
              </p:ext>
            </p:extLst>
          </p:nvPr>
        </p:nvGraphicFramePr>
        <p:xfrm>
          <a:off x="469799" y="2946167"/>
          <a:ext cx="11138304" cy="2742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8171">
                  <a:extLst>
                    <a:ext uri="{9D8B030D-6E8A-4147-A177-3AD203B41FA5}">
                      <a16:colId xmlns:a16="http://schemas.microsoft.com/office/drawing/2014/main" val="237960372"/>
                    </a:ext>
                  </a:extLst>
                </a:gridCol>
                <a:gridCol w="1901845">
                  <a:extLst>
                    <a:ext uri="{9D8B030D-6E8A-4147-A177-3AD203B41FA5}">
                      <a16:colId xmlns:a16="http://schemas.microsoft.com/office/drawing/2014/main" val="2249205730"/>
                    </a:ext>
                  </a:extLst>
                </a:gridCol>
                <a:gridCol w="1603890">
                  <a:extLst>
                    <a:ext uri="{9D8B030D-6E8A-4147-A177-3AD203B41FA5}">
                      <a16:colId xmlns:a16="http://schemas.microsoft.com/office/drawing/2014/main" val="2604970563"/>
                    </a:ext>
                  </a:extLst>
                </a:gridCol>
                <a:gridCol w="1210386">
                  <a:extLst>
                    <a:ext uri="{9D8B030D-6E8A-4147-A177-3AD203B41FA5}">
                      <a16:colId xmlns:a16="http://schemas.microsoft.com/office/drawing/2014/main" val="2304043068"/>
                    </a:ext>
                  </a:extLst>
                </a:gridCol>
                <a:gridCol w="1059907">
                  <a:extLst>
                    <a:ext uri="{9D8B030D-6E8A-4147-A177-3AD203B41FA5}">
                      <a16:colId xmlns:a16="http://schemas.microsoft.com/office/drawing/2014/main" val="2990166495"/>
                    </a:ext>
                  </a:extLst>
                </a:gridCol>
                <a:gridCol w="4034105">
                  <a:extLst>
                    <a:ext uri="{9D8B030D-6E8A-4147-A177-3AD203B41FA5}">
                      <a16:colId xmlns:a16="http://schemas.microsoft.com/office/drawing/2014/main" val="972083613"/>
                    </a:ext>
                  </a:extLst>
                </a:gridCol>
              </a:tblGrid>
              <a:tr h="214333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Programme Outputs and Suggested Next Steps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Programme Outputs and Suggested Next Steps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sz="10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1" dirty="0">
                          <a:solidFill>
                            <a:srgbClr val="000000"/>
                          </a:solidFill>
                          <a:cs typeface="Times New Roman"/>
                        </a:rPr>
                        <a:t>Deliverables status and suggested next steps</a:t>
                      </a:r>
                    </a:p>
                    <a:p>
                      <a:endParaRPr lang="en-GB" sz="10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10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63540"/>
                  </a:ext>
                </a:extLst>
              </a:tr>
              <a:tr h="341259">
                <a:tc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Workstream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outputs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Relevant documents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Handover owner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Suggested next steps / outstanding activities to be undertaken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5723575"/>
                  </a:ext>
                </a:extLst>
              </a:tr>
              <a:tr h="302588">
                <a:tc>
                  <a:txBody>
                    <a:bodyPr/>
                    <a:lstStyle/>
                    <a:p>
                      <a:r>
                        <a:rPr lang="en-GB" sz="7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Board rounds &amp; CLD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7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Board round standard; role cards; CLD policy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7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Teams: Board round SOP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7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Complete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7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Joy Adebayo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7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Quarterly audit; spread to surgical wards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361635"/>
                  </a:ext>
                </a:extLst>
              </a:tr>
              <a:tr h="302588">
                <a:tc>
                  <a:txBody>
                    <a:bodyPr/>
                    <a:lstStyle/>
                    <a:p>
                      <a:r>
                        <a:rPr lang="en-GB" sz="7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TTOs &amp; pharmacy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7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TTO process; 2 technician posts; TTO tracker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7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Teams: TTO SOP; tracker guide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7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Complete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7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Leila Haddad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7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Agree weekend technician cover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306570"/>
                  </a:ext>
                </a:extLst>
              </a:tr>
              <a:tr h="302588">
                <a:tc>
                  <a:txBody>
                    <a:bodyPr/>
                    <a:lstStyle/>
                    <a:p>
                      <a:r>
                        <a:rPr lang="en-GB" sz="7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Transport &amp; lounge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7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Morning bookings; lounge from 8am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7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Teams: Lounge standard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7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Complete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7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Kwame Asante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7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Review transport contract in 2027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14691"/>
                  </a:ext>
                </a:extLst>
              </a:tr>
              <a:tr h="302588">
                <a:tc>
                  <a:txBody>
                    <a:bodyPr/>
                    <a:lstStyle/>
                    <a:p>
                      <a:r>
                        <a:rPr lang="en-GB" sz="7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Complex discharges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7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Daily transfer of care huddle; D2A pilot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7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Teams: Huddle terms of reference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7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Partly complete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7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Fiona Gallagher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7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Finish D2A evaluation (Nov)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4374358"/>
                  </a:ext>
                </a:extLst>
              </a:tr>
              <a:tr h="30258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700" i="0">
                          <a:latin typeface="Arial"/>
                          <a:cs typeface="Arial"/>
                        </a:rPr>
                        <a:t>Data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700" i="0">
                          <a:latin typeface="Arial"/>
                          <a:cs typeface="Arial"/>
                        </a:rPr>
                        <a:t>Discharge dashboard with SPC charts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 b="0" i="0" u="none" strike="noStrike" noProof="0">
                          <a:latin typeface="Arial"/>
                        </a:rPr>
                        <a:t>Teams: Dashboard user guide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700" i="0">
                          <a:latin typeface="Arial"/>
                          <a:cs typeface="Arial"/>
                        </a:rPr>
                        <a:t>Complete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700" i="0">
                          <a:latin typeface="Arial"/>
                          <a:cs typeface="Arial"/>
                        </a:rPr>
                        <a:t>Omar Siddiqui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700" i="0">
                          <a:latin typeface="Arial"/>
                          <a:cs typeface="Arial"/>
                        </a:rPr>
                        <a:t>Move to the Trust BI platform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898189"/>
                  </a:ext>
                </a:extLst>
              </a:tr>
              <a:tr h="302588">
                <a:tc>
                  <a:txBody>
                    <a:bodyPr/>
                    <a:lstStyle/>
                    <a:p>
                      <a:r>
                        <a:rPr lang="en-GB" sz="7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PMO &amp; comms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7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Patient leaflet; case study; this report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7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Teams: Comms plan; RAID log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7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Complete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7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Ruth Adeyemi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7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Archive the Teams site in Dec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6674381"/>
                  </a:ext>
                </a:extLst>
              </a:tr>
              <a:tr h="302588">
                <a:tc>
                  <a:txBody>
                    <a:bodyPr/>
                    <a:lstStyle/>
                    <a:p>
                      <a:endParaRPr lang="en-GB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[Link to docs on teams]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693234"/>
                  </a:ext>
                </a:extLst>
              </a:tr>
            </a:tbl>
          </a:graphicData>
        </a:graphic>
      </p:graphicFrame>
      <p:sp>
        <p:nvSpPr>
          <p:cNvPr id="14" name="Rounded Rectangle 32">
            <a:extLst>
              <a:ext uri="{FF2B5EF4-FFF2-40B4-BE49-F238E27FC236}">
                <a16:creationId xmlns:a16="http://schemas.microsoft.com/office/drawing/2014/main" id="{F224BE9D-06C4-4579-BBB4-1424FB2400D6}"/>
              </a:ext>
            </a:extLst>
          </p:cNvPr>
          <p:cNvSpPr/>
          <p:nvPr/>
        </p:nvSpPr>
        <p:spPr>
          <a:xfrm>
            <a:off x="4228232" y="1021552"/>
            <a:ext cx="3621435" cy="1721646"/>
          </a:xfrm>
          <a:prstGeom prst="roundRect">
            <a:avLst>
              <a:gd name="adj" fmla="val 1713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5720" rIns="90000" bIns="45720" rtlCol="0" anchor="t"/>
          <a:lstStyle/>
          <a:p>
            <a:pPr algn="ctr">
              <a:spcAft>
                <a:spcPts val="1200"/>
              </a:spcAft>
            </a:pPr>
            <a:r>
              <a:rPr lang="en-GB" sz="11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Achievements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800" i="0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Discharges before midday up from 16% to 31%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800" i="0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Length of stay down from 7.4 to 6.9 days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800" i="0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TTO ready time down from 4.2 to 2.1 hours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800" i="0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No rise in readmissions</a:t>
            </a:r>
          </a:p>
        </p:txBody>
      </p:sp>
      <p:sp>
        <p:nvSpPr>
          <p:cNvPr id="20" name="Rounded Rectangle 32">
            <a:extLst>
              <a:ext uri="{FF2B5EF4-FFF2-40B4-BE49-F238E27FC236}">
                <a16:creationId xmlns:a16="http://schemas.microsoft.com/office/drawing/2014/main" id="{D2F5FFF3-8B8C-4918-AE0D-0501BC7CF6D3}"/>
              </a:ext>
            </a:extLst>
          </p:cNvPr>
          <p:cNvSpPr/>
          <p:nvPr/>
        </p:nvSpPr>
        <p:spPr>
          <a:xfrm>
            <a:off x="7986667" y="1021552"/>
            <a:ext cx="3621435" cy="1721646"/>
          </a:xfrm>
          <a:prstGeom prst="roundRect">
            <a:avLst>
              <a:gd name="adj" fmla="val 1713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5720" rIns="90000" bIns="45720" rtlCol="0" anchor="t"/>
          <a:lstStyle/>
          <a:p>
            <a:pPr algn="ctr">
              <a:spcAft>
                <a:spcPts val="1200"/>
              </a:spcAft>
            </a:pPr>
            <a:r>
              <a:rPr lang="en-GB" sz="11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Sustainability plan</a:t>
            </a:r>
          </a:p>
          <a:p>
            <a:pPr algn="ctr"/>
            <a:r>
              <a:rPr lang="en-GB" sz="800" i="0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Owned by Grace Mensah (General Manager). Weekly SPC charts at the Medicine Operational Group; quarterly Flow Manual audit; ward champions on every ward.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7BDE36F-B89C-4FC9-8B27-F43D7928B0A0}"/>
              </a:ext>
            </a:extLst>
          </p:cNvPr>
          <p:cNvCxnSpPr>
            <a:cxnSpLocks/>
          </p:cNvCxnSpPr>
          <p:nvPr/>
        </p:nvCxnSpPr>
        <p:spPr>
          <a:xfrm flipH="1">
            <a:off x="4394000" y="1306649"/>
            <a:ext cx="3253170" cy="0"/>
          </a:xfrm>
          <a:prstGeom prst="line">
            <a:avLst/>
          </a:prstGeom>
          <a:ln w="9525"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4B7C9FA-86EC-4F3D-BC45-F0F2E2FEA8F9}"/>
              </a:ext>
            </a:extLst>
          </p:cNvPr>
          <p:cNvCxnSpPr>
            <a:cxnSpLocks/>
          </p:cNvCxnSpPr>
          <p:nvPr/>
        </p:nvCxnSpPr>
        <p:spPr>
          <a:xfrm flipH="1">
            <a:off x="8134070" y="1306649"/>
            <a:ext cx="3253170" cy="0"/>
          </a:xfrm>
          <a:prstGeom prst="line">
            <a:avLst/>
          </a:prstGeom>
          <a:ln w="9525"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0C921DB-1A84-410F-92DD-4581E8F27A84}"/>
              </a:ext>
            </a:extLst>
          </p:cNvPr>
          <p:cNvSpPr txBox="1"/>
          <p:nvPr/>
        </p:nvSpPr>
        <p:spPr>
          <a:xfrm>
            <a:off x="4997115" y="28994"/>
            <a:ext cx="2197769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sz="800" dirty="0">
                <a:solidFill>
                  <a:srgbClr val="FF0000"/>
                </a:solidFill>
                <a:latin typeface="Arial"/>
                <a:cs typeface="Arial"/>
              </a:rPr>
              <a:t>V1 October 2022</a:t>
            </a:r>
          </a:p>
        </p:txBody>
      </p:sp>
    </p:spTree>
    <p:extLst>
      <p:ext uri="{BB962C8B-B14F-4D97-AF65-F5344CB8AC3E}">
        <p14:creationId xmlns:p14="http://schemas.microsoft.com/office/powerpoint/2010/main" val="1763640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CC5A2-89ED-46AC-9111-02FA9940C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788" y="264821"/>
            <a:ext cx="10831484" cy="706185"/>
          </a:xfrm>
        </p:spPr>
        <p:txBody>
          <a:bodyPr>
            <a:normAutofit/>
          </a:bodyPr>
          <a:lstStyle/>
          <a:p>
            <a:r>
              <a:rPr lang="en-GB" sz="2800" dirty="0"/>
              <a:t>Programme Benefits Realisation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C42D72-1D9F-4B48-AE59-FA5D6C8CD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3</a:t>
            </a:fld>
            <a:endParaRPr lang="en-GB"/>
          </a:p>
        </p:txBody>
      </p:sp>
      <p:graphicFrame>
        <p:nvGraphicFramePr>
          <p:cNvPr id="7" name="Table 50">
            <a:extLst>
              <a:ext uri="{FF2B5EF4-FFF2-40B4-BE49-F238E27FC236}">
                <a16:creationId xmlns:a16="http://schemas.microsoft.com/office/drawing/2014/main" id="{F185E68D-4454-4BF0-9A4B-0F3E135C40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4817764"/>
              </p:ext>
            </p:extLst>
          </p:nvPr>
        </p:nvGraphicFramePr>
        <p:xfrm>
          <a:off x="501403" y="971006"/>
          <a:ext cx="11093999" cy="40235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1497">
                  <a:extLst>
                    <a:ext uri="{9D8B030D-6E8A-4147-A177-3AD203B41FA5}">
                      <a16:colId xmlns:a16="http://schemas.microsoft.com/office/drawing/2014/main" val="4026464134"/>
                    </a:ext>
                  </a:extLst>
                </a:gridCol>
                <a:gridCol w="1381497">
                  <a:extLst>
                    <a:ext uri="{9D8B030D-6E8A-4147-A177-3AD203B41FA5}">
                      <a16:colId xmlns:a16="http://schemas.microsoft.com/office/drawing/2014/main" val="2249205730"/>
                    </a:ext>
                  </a:extLst>
                </a:gridCol>
                <a:gridCol w="1381497">
                  <a:extLst>
                    <a:ext uri="{9D8B030D-6E8A-4147-A177-3AD203B41FA5}">
                      <a16:colId xmlns:a16="http://schemas.microsoft.com/office/drawing/2014/main" val="2604970563"/>
                    </a:ext>
                  </a:extLst>
                </a:gridCol>
                <a:gridCol w="1381497">
                  <a:extLst>
                    <a:ext uri="{9D8B030D-6E8A-4147-A177-3AD203B41FA5}">
                      <a16:colId xmlns:a16="http://schemas.microsoft.com/office/drawing/2014/main" val="2304043068"/>
                    </a:ext>
                  </a:extLst>
                </a:gridCol>
                <a:gridCol w="1381497">
                  <a:extLst>
                    <a:ext uri="{9D8B030D-6E8A-4147-A177-3AD203B41FA5}">
                      <a16:colId xmlns:a16="http://schemas.microsoft.com/office/drawing/2014/main" val="2990166495"/>
                    </a:ext>
                  </a:extLst>
                </a:gridCol>
                <a:gridCol w="1381497">
                  <a:extLst>
                    <a:ext uri="{9D8B030D-6E8A-4147-A177-3AD203B41FA5}">
                      <a16:colId xmlns:a16="http://schemas.microsoft.com/office/drawing/2014/main" val="2151120061"/>
                    </a:ext>
                  </a:extLst>
                </a:gridCol>
                <a:gridCol w="2805017">
                  <a:extLst>
                    <a:ext uri="{9D8B030D-6E8A-4147-A177-3AD203B41FA5}">
                      <a16:colId xmlns:a16="http://schemas.microsoft.com/office/drawing/2014/main" val="972083613"/>
                    </a:ext>
                  </a:extLst>
                </a:gridCol>
              </a:tblGrid>
              <a:tr h="537776">
                <a:tc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Workstream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1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Benefit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1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1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Baseline performance (pre-programme)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1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Target performance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1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Current performance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1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Comment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5723575"/>
                  </a:ext>
                </a:extLst>
              </a:tr>
              <a:tr h="159762">
                <a:tc gridSpan="7">
                  <a:txBody>
                    <a:bodyPr/>
                    <a:lstStyle/>
                    <a:p>
                      <a:r>
                        <a:rPr lang="en-GB" sz="900" b="1" i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Original Programme Benefits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en-GB" sz="900" b="1" i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Original Programme Benefits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9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9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9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sz="9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995816"/>
                  </a:ext>
                </a:extLst>
              </a:tr>
              <a:tr h="320870">
                <a:tc>
                  <a:txBody>
                    <a:bodyPr/>
                    <a:lstStyle/>
                    <a:p>
                      <a:r>
                        <a:rPr lang="en-GB" sz="8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Board rounds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More discharges before midday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Flow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Close to target; still improving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361635"/>
                  </a:ext>
                </a:extLst>
              </a:tr>
              <a:tr h="320870">
                <a:tc>
                  <a:txBody>
                    <a:bodyPr/>
                    <a:lstStyle/>
                    <a:p>
                      <a:r>
                        <a:rPr lang="en-GB" sz="8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Shorter length of stay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Efficiency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7.4 days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6.9 days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6.9 days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Met; about 3,000 bed days a year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306570"/>
                  </a:ext>
                </a:extLst>
              </a:tr>
              <a:tr h="320870">
                <a:tc>
                  <a:txBody>
                    <a:bodyPr/>
                    <a:lstStyle/>
                    <a:p>
                      <a:r>
                        <a:rPr lang="en-GB" sz="8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TTOs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Faster TTOs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Quality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4.2 hours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 hours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2.1 hours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Close to target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14691"/>
                  </a:ext>
                </a:extLst>
              </a:tr>
              <a:tr h="320870">
                <a:tc>
                  <a:txBody>
                    <a:bodyPr/>
                    <a:lstStyle/>
                    <a:p>
                      <a:r>
                        <a:rPr lang="en-GB" sz="8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Transport &amp; lounge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More use of the discharge lounge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Efficiency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Close to target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4374358"/>
                  </a:ext>
                </a:extLst>
              </a:tr>
              <a:tr h="32087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i="0">
                          <a:latin typeface="Arial"/>
                          <a:cs typeface="Arial"/>
                        </a:rPr>
                        <a:t>Board rounds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i="0">
                          <a:latin typeface="Arial"/>
                          <a:cs typeface="Arial"/>
                        </a:rPr>
                        <a:t>EDD set within 24 hours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i="0" sz="800">
                          <a:latin typeface="Arial"/>
                        </a:rPr>
                        <a:t>Quality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i="0">
                          <a:latin typeface="Arial"/>
                          <a:cs typeface="Arial"/>
                        </a:rPr>
                        <a:t>41%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i="0">
                          <a:latin typeface="Arial"/>
                          <a:cs typeface="Arial"/>
                        </a:rPr>
                        <a:t>90%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i="0">
                          <a:latin typeface="Arial"/>
                          <a:cs typeface="Arial"/>
                        </a:rPr>
                        <a:t>88%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i="0">
                          <a:latin typeface="Arial"/>
                          <a:cs typeface="Arial"/>
                        </a:rPr>
                        <a:t>Close to target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898189"/>
                  </a:ext>
                </a:extLst>
              </a:tr>
              <a:tr h="320870">
                <a:tc>
                  <a:txBody>
                    <a:bodyPr/>
                    <a:lstStyle/>
                    <a:p>
                      <a:r>
                        <a:rPr lang="en-GB" sz="8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rise in readmissions (balancing)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Safety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13.8%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rise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13.5%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6674381"/>
                  </a:ext>
                </a:extLst>
              </a:tr>
              <a:tr h="320870">
                <a:tc>
                  <a:txBody>
                    <a:bodyPr/>
                    <a:lstStyle/>
                    <a:p>
                      <a:endParaRPr lang="en-GB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693234"/>
                  </a:ext>
                </a:extLst>
              </a:tr>
              <a:tr h="234686">
                <a:tc gridSpan="7">
                  <a:txBody>
                    <a:bodyPr/>
                    <a:lstStyle/>
                    <a:p>
                      <a:r>
                        <a:rPr lang="en-GB" sz="900" b="1" i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Additional Programme Benefits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en-GB" sz="900" b="1" i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Additional Programme Benefits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000007"/>
                  </a:ext>
                </a:extLst>
              </a:tr>
              <a:tr h="320870">
                <a:tc>
                  <a:txBody>
                    <a:bodyPr/>
                    <a:lstStyle/>
                    <a:p>
                      <a:r>
                        <a:rPr lang="en-GB" sz="8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Complex discharges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Fewer patients waiting over 7 days for social care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Experience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 a week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 a week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planned; came from the daily huddle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233543"/>
                  </a:ext>
                </a:extLst>
              </a:tr>
              <a:tr h="320870">
                <a:tc>
                  <a:txBody>
                    <a:bodyPr/>
                    <a:lstStyle/>
                    <a:p>
                      <a:endParaRPr lang="en-GB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53384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D3A085D-ED77-499E-36A3-67C7B3F80D59}"/>
              </a:ext>
            </a:extLst>
          </p:cNvPr>
          <p:cNvSpPr txBox="1"/>
          <p:nvPr/>
        </p:nvSpPr>
        <p:spPr>
          <a:xfrm>
            <a:off x="4997115" y="28994"/>
            <a:ext cx="2197769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sz="800" dirty="0">
                <a:solidFill>
                  <a:srgbClr val="FF0000"/>
                </a:solidFill>
                <a:latin typeface="Arial"/>
                <a:cs typeface="Arial"/>
              </a:rPr>
              <a:t>V1 October 2022</a:t>
            </a:r>
          </a:p>
        </p:txBody>
      </p:sp>
    </p:spTree>
    <p:extLst>
      <p:ext uri="{BB962C8B-B14F-4D97-AF65-F5344CB8AC3E}">
        <p14:creationId xmlns:p14="http://schemas.microsoft.com/office/powerpoint/2010/main" val="2039176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00065-95C7-4F25-B0B4-CD6943321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788" y="345678"/>
            <a:ext cx="10831484" cy="621832"/>
          </a:xfrm>
        </p:spPr>
        <p:txBody>
          <a:bodyPr>
            <a:normAutofit/>
          </a:bodyPr>
          <a:lstStyle/>
          <a:p>
            <a:r>
              <a:rPr lang="en-GB" sz="2800" dirty="0"/>
              <a:t>Ongoing Programme Risks and Issues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99E9F4-A4CE-4C53-A680-FF24D189A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4</a:t>
            </a:fld>
            <a:endParaRPr lang="en-GB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8A99F22-6222-4924-895B-BD5CA6E563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0255012"/>
              </p:ext>
            </p:extLst>
          </p:nvPr>
        </p:nvGraphicFramePr>
        <p:xfrm>
          <a:off x="464360" y="1133437"/>
          <a:ext cx="11263279" cy="1683840"/>
        </p:xfrm>
        <a:graphic>
          <a:graphicData uri="http://schemas.openxmlformats.org/drawingml/2006/table">
            <a:tbl>
              <a:tblPr/>
              <a:tblGrid>
                <a:gridCol w="435879">
                  <a:extLst>
                    <a:ext uri="{9D8B030D-6E8A-4147-A177-3AD203B41FA5}">
                      <a16:colId xmlns:a16="http://schemas.microsoft.com/office/drawing/2014/main" val="720020677"/>
                    </a:ext>
                  </a:extLst>
                </a:gridCol>
                <a:gridCol w="703658">
                  <a:extLst>
                    <a:ext uri="{9D8B030D-6E8A-4147-A177-3AD203B41FA5}">
                      <a16:colId xmlns:a16="http://schemas.microsoft.com/office/drawing/2014/main" val="3850042638"/>
                    </a:ext>
                  </a:extLst>
                </a:gridCol>
                <a:gridCol w="703658">
                  <a:extLst>
                    <a:ext uri="{9D8B030D-6E8A-4147-A177-3AD203B41FA5}">
                      <a16:colId xmlns:a16="http://schemas.microsoft.com/office/drawing/2014/main" val="2581383013"/>
                    </a:ext>
                  </a:extLst>
                </a:gridCol>
                <a:gridCol w="784438">
                  <a:extLst>
                    <a:ext uri="{9D8B030D-6E8A-4147-A177-3AD203B41FA5}">
                      <a16:colId xmlns:a16="http://schemas.microsoft.com/office/drawing/2014/main" val="2433160151"/>
                    </a:ext>
                  </a:extLst>
                </a:gridCol>
                <a:gridCol w="1748386">
                  <a:extLst>
                    <a:ext uri="{9D8B030D-6E8A-4147-A177-3AD203B41FA5}">
                      <a16:colId xmlns:a16="http://schemas.microsoft.com/office/drawing/2014/main" val="1020071063"/>
                    </a:ext>
                  </a:extLst>
                </a:gridCol>
                <a:gridCol w="635231">
                  <a:extLst>
                    <a:ext uri="{9D8B030D-6E8A-4147-A177-3AD203B41FA5}">
                      <a16:colId xmlns:a16="http://schemas.microsoft.com/office/drawing/2014/main" val="3801061632"/>
                    </a:ext>
                  </a:extLst>
                </a:gridCol>
                <a:gridCol w="448617">
                  <a:extLst>
                    <a:ext uri="{9D8B030D-6E8A-4147-A177-3AD203B41FA5}">
                      <a16:colId xmlns:a16="http://schemas.microsoft.com/office/drawing/2014/main" val="1433674842"/>
                    </a:ext>
                  </a:extLst>
                </a:gridCol>
                <a:gridCol w="570319">
                  <a:extLst>
                    <a:ext uri="{9D8B030D-6E8A-4147-A177-3AD203B41FA5}">
                      <a16:colId xmlns:a16="http://schemas.microsoft.com/office/drawing/2014/main" val="3790477784"/>
                    </a:ext>
                  </a:extLst>
                </a:gridCol>
                <a:gridCol w="1867030">
                  <a:extLst>
                    <a:ext uri="{9D8B030D-6E8A-4147-A177-3AD203B41FA5}">
                      <a16:colId xmlns:a16="http://schemas.microsoft.com/office/drawing/2014/main" val="3568883209"/>
                    </a:ext>
                  </a:extLst>
                </a:gridCol>
                <a:gridCol w="639799">
                  <a:extLst>
                    <a:ext uri="{9D8B030D-6E8A-4147-A177-3AD203B41FA5}">
                      <a16:colId xmlns:a16="http://schemas.microsoft.com/office/drawing/2014/main" val="3596098706"/>
                    </a:ext>
                  </a:extLst>
                </a:gridCol>
                <a:gridCol w="603136">
                  <a:extLst>
                    <a:ext uri="{9D8B030D-6E8A-4147-A177-3AD203B41FA5}">
                      <a16:colId xmlns:a16="http://schemas.microsoft.com/office/drawing/2014/main" val="3653668503"/>
                    </a:ext>
                  </a:extLst>
                </a:gridCol>
                <a:gridCol w="603136">
                  <a:extLst>
                    <a:ext uri="{9D8B030D-6E8A-4147-A177-3AD203B41FA5}">
                      <a16:colId xmlns:a16="http://schemas.microsoft.com/office/drawing/2014/main" val="2430618810"/>
                    </a:ext>
                  </a:extLst>
                </a:gridCol>
                <a:gridCol w="1519992">
                  <a:extLst>
                    <a:ext uri="{9D8B030D-6E8A-4147-A177-3AD203B41FA5}">
                      <a16:colId xmlns:a16="http://schemas.microsoft.com/office/drawing/2014/main" val="600931154"/>
                    </a:ext>
                  </a:extLst>
                </a:gridCol>
              </a:tblGrid>
              <a:tr h="288000">
                <a:tc gridSpan="13">
                  <a:txBody>
                    <a:bodyPr/>
                    <a:lstStyle/>
                    <a:p>
                      <a:pPr algn="l" fontAlgn="ctr"/>
                      <a:r>
                        <a:rPr lang="en-GB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Risks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GB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1798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GB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1798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GB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1798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GB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1798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GB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1798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GB" sz="8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1798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GB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1798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GB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1798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GB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1798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GB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1798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GB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1798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GB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1798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34643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Ref #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Date Raised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Owner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Workstream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Likelihood </a:t>
                      </a:r>
                      <a:br>
                        <a:rPr lang="en-GB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GB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(1-5)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8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Impact </a:t>
                      </a:r>
                      <a:br>
                        <a:rPr lang="en-GB" sz="8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GB" sz="8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(1-5)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Exposure</a:t>
                      </a:r>
                      <a:br>
                        <a:rPr lang="en-GB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GB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(L*I)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Mitigation Actions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Likelihood </a:t>
                      </a:r>
                      <a:br>
                        <a:rPr lang="en-GB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GB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(1-5)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Impact </a:t>
                      </a:r>
                      <a:br>
                        <a:rPr lang="en-GB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GB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(1-5)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Exposure</a:t>
                      </a:r>
                      <a:br>
                        <a:rPr lang="en-GB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GB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(L*I)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 - commentary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53646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R-007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02/09/26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Grace Mensah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Board rounds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Gains slip once CITI support ends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Ward champions; quarterly audit; SPC review monthly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Handed to Clinical Group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50982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R-008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02/09/26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Leila Haddad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TTOs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weekend technician cover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Bid in 2027/28 planning round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327677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401446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928288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384455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5EEFA66-CD37-4D49-AC9E-90E7400A64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512830"/>
              </p:ext>
            </p:extLst>
          </p:nvPr>
        </p:nvGraphicFramePr>
        <p:xfrm>
          <a:off x="464360" y="2974159"/>
          <a:ext cx="11263279" cy="1683840"/>
        </p:xfrm>
        <a:graphic>
          <a:graphicData uri="http://schemas.openxmlformats.org/drawingml/2006/table">
            <a:tbl>
              <a:tblPr/>
              <a:tblGrid>
                <a:gridCol w="604193">
                  <a:extLst>
                    <a:ext uri="{9D8B030D-6E8A-4147-A177-3AD203B41FA5}">
                      <a16:colId xmlns:a16="http://schemas.microsoft.com/office/drawing/2014/main" val="720020677"/>
                    </a:ext>
                  </a:extLst>
                </a:gridCol>
                <a:gridCol w="936531">
                  <a:extLst>
                    <a:ext uri="{9D8B030D-6E8A-4147-A177-3AD203B41FA5}">
                      <a16:colId xmlns:a16="http://schemas.microsoft.com/office/drawing/2014/main" val="3850042638"/>
                    </a:ext>
                  </a:extLst>
                </a:gridCol>
                <a:gridCol w="923873">
                  <a:extLst>
                    <a:ext uri="{9D8B030D-6E8A-4147-A177-3AD203B41FA5}">
                      <a16:colId xmlns:a16="http://schemas.microsoft.com/office/drawing/2014/main" val="2581383013"/>
                    </a:ext>
                  </a:extLst>
                </a:gridCol>
                <a:gridCol w="1063089">
                  <a:extLst>
                    <a:ext uri="{9D8B030D-6E8A-4147-A177-3AD203B41FA5}">
                      <a16:colId xmlns:a16="http://schemas.microsoft.com/office/drawing/2014/main" val="1020071063"/>
                    </a:ext>
                  </a:extLst>
                </a:gridCol>
                <a:gridCol w="2366637">
                  <a:extLst>
                    <a:ext uri="{9D8B030D-6E8A-4147-A177-3AD203B41FA5}">
                      <a16:colId xmlns:a16="http://schemas.microsoft.com/office/drawing/2014/main" val="1433674842"/>
                    </a:ext>
                  </a:extLst>
                </a:gridCol>
                <a:gridCol w="847940">
                  <a:extLst>
                    <a:ext uri="{9D8B030D-6E8A-4147-A177-3AD203B41FA5}">
                      <a16:colId xmlns:a16="http://schemas.microsoft.com/office/drawing/2014/main" val="3790477784"/>
                    </a:ext>
                  </a:extLst>
                </a:gridCol>
                <a:gridCol w="1379484">
                  <a:extLst>
                    <a:ext uri="{9D8B030D-6E8A-4147-A177-3AD203B41FA5}">
                      <a16:colId xmlns:a16="http://schemas.microsoft.com/office/drawing/2014/main" val="3568883209"/>
                    </a:ext>
                  </a:extLst>
                </a:gridCol>
                <a:gridCol w="3141532">
                  <a:extLst>
                    <a:ext uri="{9D8B030D-6E8A-4147-A177-3AD203B41FA5}">
                      <a16:colId xmlns:a16="http://schemas.microsoft.com/office/drawing/2014/main" val="2430618810"/>
                    </a:ext>
                  </a:extLst>
                </a:gridCol>
              </a:tblGrid>
              <a:tr h="288000">
                <a:tc gridSpan="8">
                  <a:txBody>
                    <a:bodyPr/>
                    <a:lstStyle/>
                    <a:p>
                      <a:pPr algn="l" fontAlgn="ctr"/>
                      <a:r>
                        <a:rPr lang="en-GB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Issues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GB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1798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GB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1798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GB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1798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GB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1798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GB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1798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GB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1798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GB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0" marB="1798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346439"/>
                  </a:ext>
                </a:extLst>
              </a:tr>
              <a:tr h="128399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Ref #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Date Raised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Owner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Workstream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Impact </a:t>
                      </a:r>
                      <a:br>
                        <a:rPr lang="en-GB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GB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(1-5)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Actions to resolve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 - commentary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53646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I-006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09/09/26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Fiona Gallagher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Complex discharges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D2A pilot evaluation not finished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Finish evaluation with local authority by November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Handed to discharge team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50982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327677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401446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928288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384455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544D635-589A-CA3F-C474-E9C08915D3B6}"/>
              </a:ext>
            </a:extLst>
          </p:cNvPr>
          <p:cNvSpPr txBox="1"/>
          <p:nvPr/>
        </p:nvSpPr>
        <p:spPr>
          <a:xfrm>
            <a:off x="4997115" y="28994"/>
            <a:ext cx="2197769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sz="800" dirty="0">
                <a:solidFill>
                  <a:srgbClr val="FF0000"/>
                </a:solidFill>
                <a:latin typeface="Arial"/>
                <a:cs typeface="Arial"/>
              </a:rPr>
              <a:t>V1 October 2022</a:t>
            </a:r>
          </a:p>
        </p:txBody>
      </p:sp>
    </p:spTree>
    <p:extLst>
      <p:ext uri="{BB962C8B-B14F-4D97-AF65-F5344CB8AC3E}">
        <p14:creationId xmlns:p14="http://schemas.microsoft.com/office/powerpoint/2010/main" val="1806714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8F927-8DC3-4C79-A83C-51996F86A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848" y="371124"/>
            <a:ext cx="10831484" cy="591733"/>
          </a:xfrm>
        </p:spPr>
        <p:txBody>
          <a:bodyPr>
            <a:noAutofit/>
          </a:bodyPr>
          <a:lstStyle/>
          <a:p>
            <a:r>
              <a:rPr lang="en-GB" sz="2800" dirty="0"/>
              <a:t>Feedback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3A3F8-62B1-4481-A21F-CE6CEAA3B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5</a:t>
            </a:fld>
            <a:endParaRPr lang="en-GB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DAB78D4-21B9-40C2-89C4-9174ABD993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906207"/>
              </p:ext>
            </p:extLst>
          </p:nvPr>
        </p:nvGraphicFramePr>
        <p:xfrm>
          <a:off x="525944" y="996792"/>
          <a:ext cx="11140110" cy="45687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7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92178">
                  <a:extLst>
                    <a:ext uri="{9D8B030D-6E8A-4147-A177-3AD203B41FA5}">
                      <a16:colId xmlns:a16="http://schemas.microsoft.com/office/drawing/2014/main" val="3161513929"/>
                    </a:ext>
                  </a:extLst>
                </a:gridCol>
              </a:tblGrid>
              <a:tr h="31368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900" b="1" i="0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Stakeholder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16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900" b="1" i="0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Feedback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5782204"/>
                  </a:ext>
                </a:extLst>
              </a:tr>
              <a:tr h="531879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300"/>
                        </a:spcAft>
                        <a:buFont typeface="+mj-lt"/>
                        <a:buNone/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en-GB" sz="900" i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Ward 6 manager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“The morning board round is now just how we do it. We don't need CITI in the room any more.”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879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300"/>
                        </a:spcAft>
                        <a:buFont typeface="+mj-lt"/>
                        <a:buNone/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en-GB" sz="900" i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Consultant physician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“Criteria-led discharge took a while to trust, but it saves me a ward round most days.”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9219927"/>
                  </a:ext>
                </a:extLst>
              </a:tr>
              <a:tr h="531879">
                <a:tc>
                  <a:txBody>
                    <a:bodyPr/>
                    <a:lstStyle/>
                    <a:p>
                      <a:pPr marL="342900" lvl="0" indent="-342900">
                        <a:spcAft>
                          <a:spcPts val="300"/>
                        </a:spcAft>
                        <a:buFont typeface="+mj-lt"/>
                        <a:buNone/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en-GB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Lead pharmacist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“Having technicians on the wards changed the relationship with ward teams completely.”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324714"/>
                  </a:ext>
                </a:extLst>
              </a:tr>
              <a:tr h="531879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300"/>
                        </a:spcAft>
                        <a:buFont typeface="+mj-lt"/>
                        <a:buNone/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en-GB" sz="900" i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Patient panel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“Being told the day before what time I'd go home made a real difference to my family.”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842515"/>
                  </a:ext>
                </a:extLst>
              </a:tr>
              <a:tr h="531879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300"/>
                        </a:spcAft>
                        <a:buFont typeface="+mj-lt"/>
                        <a:buNone/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en-GB" sz="900" i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Local authority partner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“The daily huddle means we hear about complex patients days earlier.”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5146562"/>
                  </a:ext>
                </a:extLst>
              </a:tr>
              <a:tr h="531879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300"/>
                        </a:spcAft>
                        <a:buFont typeface="Symbol" panose="05050102010706020507" pitchFamily="18" charset="2"/>
                        <a:buNone/>
                      </a:pPr>
                      <a:endParaRPr lang="en-GB" sz="9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GB" sz="900" b="0" i="0" u="none" strike="noStrike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321025"/>
                  </a:ext>
                </a:extLst>
              </a:tr>
              <a:tr h="531879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300"/>
                        </a:spcAft>
                        <a:buFont typeface="Symbol" panose="05050102010706020507" pitchFamily="18" charset="2"/>
                        <a:buNone/>
                      </a:pPr>
                      <a:endParaRPr lang="en-GB" sz="9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GB" sz="900" b="0" i="0" u="none" strike="noStrike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9900712"/>
                  </a:ext>
                </a:extLst>
              </a:tr>
              <a:tr h="5318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endParaRPr lang="en-GB" sz="900" b="0" i="0" u="none" strike="noStrike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GB" sz="900" b="0" i="0" u="none" strike="noStrike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86936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37DD326-75DD-B91B-F7F6-66EB995750DE}"/>
              </a:ext>
            </a:extLst>
          </p:cNvPr>
          <p:cNvSpPr txBox="1"/>
          <p:nvPr/>
        </p:nvSpPr>
        <p:spPr>
          <a:xfrm>
            <a:off x="4997115" y="28994"/>
            <a:ext cx="2197769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sz="800" dirty="0">
                <a:solidFill>
                  <a:srgbClr val="FF0000"/>
                </a:solidFill>
              </a:rPr>
              <a:t>V1 October 2022</a:t>
            </a:r>
          </a:p>
        </p:txBody>
      </p:sp>
    </p:spTree>
    <p:extLst>
      <p:ext uri="{BB962C8B-B14F-4D97-AF65-F5344CB8AC3E}">
        <p14:creationId xmlns:p14="http://schemas.microsoft.com/office/powerpoint/2010/main" val="2556256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8F927-8DC3-4C79-A83C-51996F86A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848" y="371124"/>
            <a:ext cx="10831484" cy="591733"/>
          </a:xfrm>
        </p:spPr>
        <p:txBody>
          <a:bodyPr>
            <a:noAutofit/>
          </a:bodyPr>
          <a:lstStyle/>
          <a:p>
            <a:r>
              <a:rPr lang="en-GB" sz="2800" dirty="0"/>
              <a:t>Lessons learnt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3A3F8-62B1-4481-A21F-CE6CEAA3B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6</a:t>
            </a:fld>
            <a:endParaRPr lang="en-GB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68B1B34-C6B2-40BA-9AB7-EEDB81ECF7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8749857"/>
              </p:ext>
            </p:extLst>
          </p:nvPr>
        </p:nvGraphicFramePr>
        <p:xfrm>
          <a:off x="537882" y="1043577"/>
          <a:ext cx="11288241" cy="4678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1774">
                  <a:extLst>
                    <a:ext uri="{9D8B030D-6E8A-4147-A177-3AD203B41FA5}">
                      <a16:colId xmlns:a16="http://schemas.microsoft.com/office/drawing/2014/main" val="3161513929"/>
                    </a:ext>
                  </a:extLst>
                </a:gridCol>
              </a:tblGrid>
              <a:tr h="31514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900" b="1" i="0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Reflection Area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16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900" b="1" i="0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Lessons Learnt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1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808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300"/>
                        </a:spcAft>
                        <a:buFont typeface="+mj-lt"/>
                        <a:buNone/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en-GB" sz="900" i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Did we achieve the objectives of the project and if not, why not?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8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Mostly: the length of stay aim was met and discharges before midday reached 31% against 33%. Wards 1 to 4 started later because of rota gaps.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9256713"/>
                  </a:ext>
                </a:extLst>
              </a:tr>
              <a:tr h="471808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300"/>
                        </a:spcAft>
                        <a:buFont typeface="+mj-lt"/>
                        <a:buNone/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en-GB" sz="900" i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What worked well and why?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8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Starting on 2 wards and spreading: other wards saw it working. Weekly SPC charts at ward huddles kept attention on the data.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808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300"/>
                        </a:spcAft>
                        <a:buFont typeface="+mj-lt"/>
                        <a:buNone/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en-GB" sz="900" i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What could we have done better?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8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Agree the data definitions in mobilisation. We lost 3 weeks fixing ward codes in the TTO tracker.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814479"/>
                  </a:ext>
                </a:extLst>
              </a:tr>
              <a:tr h="471808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300"/>
                        </a:spcAft>
                        <a:buFont typeface="+mj-lt"/>
                        <a:buNone/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en-GB" sz="900" i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What were the key challenges and how could they have been avoided?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8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Junior doctor rota gaps. Earlier escalation to the Clinical Director would have helped.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9219927"/>
                  </a:ext>
                </a:extLst>
              </a:tr>
              <a:tr h="5696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en-GB" sz="900" i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Did we use any innovative approaches or best practice techniques during the programme and if so, how did they work?</a:t>
                      </a:r>
                      <a:endParaRPr lang="en-GB" sz="900" b="0" i="1" u="none" strike="noStrike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8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Ward 'Big Rooms' and criteria-led discharge worked well. The patient panel shaped the leaflet.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869361"/>
                  </a:ext>
                </a:extLst>
              </a:tr>
              <a:tr h="52262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30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en-GB" sz="900" b="0" i="1" u="none" strike="noStrike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Did the team have the right resources and were there any skills that were missing?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8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Mostly; we were short of analyst time in mobilisation.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007583"/>
                  </a:ext>
                </a:extLst>
              </a:tr>
              <a:tr h="691763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30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en-GB" sz="900" i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Are there any improvement suggestions regarding the methods, tools and templates used to develop the programme?</a:t>
                      </a:r>
                      <a:endParaRPr lang="en-GB" sz="900" b="0" i="1" u="none" strike="noStrike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8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highlight report template worked well; the RAID log was too long to review weekly, so we filtered to red and amber.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960298"/>
                  </a:ext>
                </a:extLst>
              </a:tr>
              <a:tr h="691763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30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en-GB" sz="900" b="0" i="1" u="none" strike="noStrike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Other [as relevant]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800" b="0" i="0" u="none" strike="noStrike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Share the board round standard with surgical wards first.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808095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D405542-800E-B317-F15F-35297FE6A5FD}"/>
              </a:ext>
            </a:extLst>
          </p:cNvPr>
          <p:cNvSpPr txBox="1"/>
          <p:nvPr/>
        </p:nvSpPr>
        <p:spPr>
          <a:xfrm>
            <a:off x="4997115" y="28994"/>
            <a:ext cx="2197769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sz="800" dirty="0">
                <a:solidFill>
                  <a:srgbClr val="FF0000"/>
                </a:solidFill>
                <a:latin typeface="Arial"/>
                <a:cs typeface="Arial"/>
              </a:rPr>
              <a:t>V1 October 2022</a:t>
            </a:r>
          </a:p>
        </p:txBody>
      </p:sp>
    </p:spTree>
    <p:extLst>
      <p:ext uri="{BB962C8B-B14F-4D97-AF65-F5344CB8AC3E}">
        <p14:creationId xmlns:p14="http://schemas.microsoft.com/office/powerpoint/2010/main" val="753154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27EB7-32D5-4A95-84FA-B2EA580FE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95" y="136525"/>
            <a:ext cx="10831484" cy="947557"/>
          </a:xfrm>
        </p:spPr>
        <p:txBody>
          <a:bodyPr>
            <a:normAutofit/>
          </a:bodyPr>
          <a:lstStyle/>
          <a:p>
            <a:r>
              <a:rPr lang="en-GB" sz="2800" dirty="0"/>
              <a:t>Programme Case Study</a:t>
            </a:r>
            <a:endParaRPr lang="en-GB" sz="2800" b="0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BCB6A-D023-489E-928F-2293CD598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7</a:t>
            </a:fld>
            <a:endParaRPr lang="en-GB"/>
          </a:p>
        </p:txBody>
      </p:sp>
      <p:sp>
        <p:nvSpPr>
          <p:cNvPr id="5" name="Rounded Rectangle 32">
            <a:extLst>
              <a:ext uri="{FF2B5EF4-FFF2-40B4-BE49-F238E27FC236}">
                <a16:creationId xmlns:a16="http://schemas.microsoft.com/office/drawing/2014/main" id="{76403ED4-8912-4A51-BD87-B30BD1449CD0}"/>
              </a:ext>
            </a:extLst>
          </p:cNvPr>
          <p:cNvSpPr/>
          <p:nvPr/>
        </p:nvSpPr>
        <p:spPr>
          <a:xfrm>
            <a:off x="469797" y="1021552"/>
            <a:ext cx="11162357" cy="923805"/>
          </a:xfrm>
          <a:prstGeom prst="roundRect">
            <a:avLst>
              <a:gd name="adj" fmla="val 1713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5720" rIns="90000" bIns="45720" rtlCol="0" anchor="t"/>
          <a:lstStyle/>
          <a:p>
            <a:pPr algn="ctr">
              <a:spcAft>
                <a:spcPts val="1200"/>
              </a:spcAft>
            </a:pPr>
            <a:r>
              <a:rPr lang="en-GB" sz="1100" b="1" dirty="0">
                <a:solidFill>
                  <a:srgbClr val="002060"/>
                </a:solidFill>
                <a:latin typeface="Arial"/>
                <a:cs typeface="Arial"/>
              </a:rPr>
              <a:t>Programme Overview</a:t>
            </a:r>
            <a:endParaRPr lang="en-US" dirty="0">
              <a:solidFill>
                <a:srgbClr val="FFFFFF"/>
              </a:solidFill>
              <a:latin typeface="Arial"/>
              <a:cs typeface="Arial"/>
            </a:endParaRPr>
          </a:p>
          <a:p>
            <a:pPr algn="ctr">
              <a:spcAft>
                <a:spcPts val="1200"/>
              </a:spcAft>
            </a:pPr>
            <a:r>
              <a:rPr lang="en-GB" sz="1000" i="0">
                <a:solidFill>
                  <a:srgbClr val="000000"/>
                </a:solidFill>
                <a:latin typeface="Arial"/>
                <a:cs typeface="Arial"/>
              </a:rPr>
              <a:t>Patients on our medical wards wait most of the day to go home: only 16% leave before midday, so A&amp;E patients wait for beds into the evening. We will redesign the discharge day with ward teams, pharmacy and transport so patients who are ready go home in the morning.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CD9B8F2-679B-4AAD-9714-E69AD6025293}"/>
              </a:ext>
            </a:extLst>
          </p:cNvPr>
          <p:cNvCxnSpPr>
            <a:cxnSpLocks/>
          </p:cNvCxnSpPr>
          <p:nvPr/>
        </p:nvCxnSpPr>
        <p:spPr>
          <a:xfrm flipH="1">
            <a:off x="559846" y="1299587"/>
            <a:ext cx="10931428" cy="0"/>
          </a:xfrm>
          <a:prstGeom prst="line">
            <a:avLst/>
          </a:prstGeom>
          <a:ln w="9525"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32">
            <a:extLst>
              <a:ext uri="{FF2B5EF4-FFF2-40B4-BE49-F238E27FC236}">
                <a16:creationId xmlns:a16="http://schemas.microsoft.com/office/drawing/2014/main" id="{EB4F5565-1AB3-4E11-A2C3-E88E320601DD}"/>
              </a:ext>
            </a:extLst>
          </p:cNvPr>
          <p:cNvSpPr/>
          <p:nvPr/>
        </p:nvSpPr>
        <p:spPr>
          <a:xfrm>
            <a:off x="6082347" y="2063828"/>
            <a:ext cx="5549807" cy="3646753"/>
          </a:xfrm>
          <a:prstGeom prst="roundRect">
            <a:avLst>
              <a:gd name="adj" fmla="val 1713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5720" rIns="90000" bIns="45720" rtlCol="0" anchor="t"/>
          <a:lstStyle/>
          <a:p>
            <a:pPr algn="ctr">
              <a:spcAft>
                <a:spcPts val="1200"/>
              </a:spcAft>
            </a:pPr>
            <a:r>
              <a:rPr lang="en-GB" sz="11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Achievements and Benefits Realised</a:t>
            </a:r>
          </a:p>
          <a:p>
            <a:r>
              <a:rPr lang="en-GB" sz="1200" i="0" b="1">
                <a:solidFill>
                  <a:srgbClr val="000000"/>
                </a:solidFill>
                <a:latin typeface="Arial"/>
                <a:cs typeface="Arial"/>
              </a:rPr>
              <a:t>31% of discharges before midday (from 16%)</a:t>
            </a:r>
          </a:p>
          <a:p>
            <a:r>
              <a:rPr lang="en-GB" sz="1200" i="0" b="1">
                <a:solidFill>
                  <a:srgbClr val="000000"/>
                </a:solidFill>
                <a:latin typeface="Arial"/>
                <a:cs typeface="Arial"/>
              </a:rPr>
              <a:t>0.5 days off average length of stay</a:t>
            </a:r>
          </a:p>
          <a:p>
            <a:r>
              <a:rPr lang="en-GB" sz="1200" i="0" b="1">
                <a:solidFill>
                  <a:srgbClr val="000000"/>
                </a:solidFill>
                <a:latin typeface="Arial"/>
                <a:cs typeface="Arial"/>
              </a:rPr>
              <a:t>About 3,000 bed days a year released</a:t>
            </a:r>
          </a:p>
          <a:p>
            <a:r>
              <a:rPr lang="en-GB" sz="1200" i="0" b="1">
                <a:solidFill>
                  <a:srgbClr val="000000"/>
                </a:solidFill>
                <a:latin typeface="Arial"/>
                <a:cs typeface="Arial"/>
              </a:rPr>
              <a:t>TTOs ready in 2.1 hours (from 4.2)</a:t>
            </a:r>
          </a:p>
          <a:p>
            <a:r>
              <a:rPr lang="en-GB" sz="1200" i="0" b="1">
                <a:solidFill>
                  <a:srgbClr val="000000"/>
                </a:solidFill>
                <a:latin typeface="Arial"/>
                <a:cs typeface="Arial"/>
              </a:rPr>
              <a:t>No rise in readmissions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D77DBA-D2A0-4AF7-9392-24EC9DA779C4}"/>
              </a:ext>
            </a:extLst>
          </p:cNvPr>
          <p:cNvCxnSpPr>
            <a:cxnSpLocks/>
          </p:cNvCxnSpPr>
          <p:nvPr/>
        </p:nvCxnSpPr>
        <p:spPr>
          <a:xfrm flipH="1">
            <a:off x="6293513" y="2341864"/>
            <a:ext cx="5118486" cy="0"/>
          </a:xfrm>
          <a:prstGeom prst="line">
            <a:avLst/>
          </a:prstGeom>
          <a:ln w="9525"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32">
            <a:extLst>
              <a:ext uri="{FF2B5EF4-FFF2-40B4-BE49-F238E27FC236}">
                <a16:creationId xmlns:a16="http://schemas.microsoft.com/office/drawing/2014/main" id="{F37F7286-762F-4282-85D0-467A3E1912CF}"/>
              </a:ext>
            </a:extLst>
          </p:cNvPr>
          <p:cNvSpPr/>
          <p:nvPr/>
        </p:nvSpPr>
        <p:spPr>
          <a:xfrm>
            <a:off x="469797" y="2053067"/>
            <a:ext cx="5549807" cy="3646753"/>
          </a:xfrm>
          <a:prstGeom prst="roundRect">
            <a:avLst>
              <a:gd name="adj" fmla="val 1713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5720" rIns="90000" bIns="45720" rtlCol="0" anchor="t"/>
          <a:lstStyle/>
          <a:p>
            <a:pPr algn="ctr">
              <a:spcAft>
                <a:spcPts val="1200"/>
              </a:spcAft>
            </a:pPr>
            <a:r>
              <a:rPr lang="en-GB" sz="11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Approach</a:t>
            </a:r>
          </a:p>
          <a:p>
            <a:r>
              <a:rPr lang="en-GB" sz="1000" i="0">
                <a:solidFill>
                  <a:srgbClr val="000000"/>
                </a:solidFill>
                <a:latin typeface="Arial"/>
                <a:cs typeface="Arial"/>
              </a:rPr>
              <a:t>Started on Wards 5 and 6 and spread ward by ward with Plan, Do, Study, Act cycles</a:t>
            </a:r>
          </a:p>
          <a:p>
            <a:r>
              <a:rPr lang="en-GB" sz="1000" i="0">
                <a:solidFill>
                  <a:srgbClr val="000000"/>
                </a:solidFill>
                <a:latin typeface="Arial"/>
                <a:cs typeface="Arial"/>
              </a:rPr>
              <a:t>Morning board rounds with criteria-led discharge</a:t>
            </a:r>
          </a:p>
          <a:p>
            <a:r>
              <a:rPr lang="en-GB" sz="1000" i="0">
                <a:solidFill>
                  <a:srgbClr val="000000"/>
                </a:solidFill>
                <a:latin typeface="Arial"/>
                <a:cs typeface="Arial"/>
              </a:rPr>
              <a:t>TTOs written the day before, with technicians on the wards</a:t>
            </a:r>
          </a:p>
          <a:p>
            <a:r>
              <a:rPr lang="en-GB" sz="1000" i="0">
                <a:solidFill>
                  <a:srgbClr val="000000"/>
                </a:solidFill>
                <a:latin typeface="Arial"/>
                <a:cs typeface="Arial"/>
              </a:rPr>
              <a:t>Lounge open from 8am and morning transport bookings</a:t>
            </a:r>
          </a:p>
          <a:p>
            <a:r>
              <a:rPr lang="en-GB" sz="1000" i="0">
                <a:solidFill>
                  <a:srgbClr val="000000"/>
                </a:solidFill>
                <a:latin typeface="Arial"/>
                <a:cs typeface="Arial"/>
              </a:rPr>
              <a:t>Daily transfer of care huddle with social work</a:t>
            </a:r>
          </a:p>
          <a:p>
            <a:r>
              <a:rPr lang="en-GB" sz="1000" i="0">
                <a:solidFill>
                  <a:srgbClr val="000000"/>
                </a:solidFill>
                <a:latin typeface="Arial"/>
                <a:cs typeface="Arial"/>
              </a:rPr>
              <a:t>Weekly SPC charts at every ward huddle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4B585AA-7DF1-4A85-A592-2B6ACC8C491D}"/>
              </a:ext>
            </a:extLst>
          </p:cNvPr>
          <p:cNvCxnSpPr>
            <a:cxnSpLocks/>
          </p:cNvCxnSpPr>
          <p:nvPr/>
        </p:nvCxnSpPr>
        <p:spPr>
          <a:xfrm flipH="1">
            <a:off x="680963" y="2331103"/>
            <a:ext cx="5118486" cy="0"/>
          </a:xfrm>
          <a:prstGeom prst="line">
            <a:avLst/>
          </a:prstGeom>
          <a:ln w="9525"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C2A918F-224C-919C-DC3F-D088A66DB543}"/>
              </a:ext>
            </a:extLst>
          </p:cNvPr>
          <p:cNvSpPr txBox="1"/>
          <p:nvPr/>
        </p:nvSpPr>
        <p:spPr>
          <a:xfrm>
            <a:off x="4997115" y="28994"/>
            <a:ext cx="2197769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sz="800" dirty="0">
                <a:solidFill>
                  <a:srgbClr val="FF0000"/>
                </a:solidFill>
                <a:latin typeface="Arial"/>
                <a:cs typeface="Arial"/>
              </a:rPr>
              <a:t>V1 October 2022</a:t>
            </a:r>
          </a:p>
        </p:txBody>
      </p:sp>
    </p:spTree>
    <p:extLst>
      <p:ext uri="{BB962C8B-B14F-4D97-AF65-F5344CB8AC3E}">
        <p14:creationId xmlns:p14="http://schemas.microsoft.com/office/powerpoint/2010/main" val="355408526"/>
      </p:ext>
    </p:extLst>
  </p:cSld>
  <p:clrMapOvr>
    <a:masterClrMapping/>
  </p:clrMapOvr>
</p:sld>
</file>

<file path=ppt/theme/theme1.xml><?xml version="1.0" encoding="utf-8"?>
<a:theme xmlns:a="http://schemas.openxmlformats.org/drawingml/2006/main" name="Everyday us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osure_DRAFT Programme Closure Report Template v0.1_2022v1" id="{525E6DB6-8316-40A4-97F7-8F163D4BF2B7}" vid="{F67E4A38-0072-47DD-9FA8-903617556D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2140767-ea33-4c7b-b767-f24c208d32ac" xsi:nil="true"/>
    <lcf76f155ced4ddcb4097134ff3c332f xmlns="21697468-ab00-4187-b43e-690b347ce3ba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1722475DE344940A41BC623561EC2B3" ma:contentTypeVersion="14" ma:contentTypeDescription="Create a new document." ma:contentTypeScope="" ma:versionID="601d944460f57618d4a961da28ce0e5b">
  <xsd:schema xmlns:xsd="http://www.w3.org/2001/XMLSchema" xmlns:xs="http://www.w3.org/2001/XMLSchema" xmlns:p="http://schemas.microsoft.com/office/2006/metadata/properties" xmlns:ns2="21697468-ab00-4187-b43e-690b347ce3ba" xmlns:ns3="02140767-ea33-4c7b-b767-f24c208d32ac" targetNamespace="http://schemas.microsoft.com/office/2006/metadata/properties" ma:root="true" ma:fieldsID="0eb22f851c0d830c12c1891fe34c39f9" ns2:_="" ns3:_="">
    <xsd:import namespace="21697468-ab00-4187-b43e-690b347ce3ba"/>
    <xsd:import namespace="02140767-ea33-4c7b-b767-f24c208d32a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697468-ab00-4187-b43e-690b347ce3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1fcb103-9447-460e-9e5b-d14289a5406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140767-ea33-4c7b-b767-f24c208d32a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fda0a4c-d307-4da8-848d-a261a7855403}" ma:internalName="TaxCatchAll" ma:showField="CatchAllData" ma:web="02140767-ea33-4c7b-b767-f24c208d32a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D2E5FD-32EB-4C43-B8D0-C9CDF7B9CD0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160D854-C3EF-4934-B7B5-B9D98E378F32}">
  <ds:schemaRefs>
    <ds:schemaRef ds:uri="http://purl.org/dc/terms/"/>
    <ds:schemaRef ds:uri="http://schemas.microsoft.com/office/2006/documentManagement/types"/>
    <ds:schemaRef ds:uri="02140767-ea33-4c7b-b767-f24c208d32ac"/>
    <ds:schemaRef ds:uri="http://purl.org/dc/elements/1.1/"/>
    <ds:schemaRef ds:uri="http://schemas.microsoft.com/office/infopath/2007/PartnerControls"/>
    <ds:schemaRef ds:uri="http://schemas.microsoft.com/office/2006/metadata/properties"/>
    <ds:schemaRef ds:uri="21697468-ab00-4187-b43e-690b347ce3ba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D39FBBFE-D380-47EA-8DD7-A66980363FE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1697468-ab00-4187-b43e-690b347ce3ba"/>
    <ds:schemaRef ds:uri="02140767-ea33-4c7b-b767-f24c208d32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9084</TotalTime>
  <Words>433</Words>
  <Application>Microsoft Office PowerPoint</Application>
  <PresentationFormat>Widescreen</PresentationFormat>
  <Paragraphs>93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Helvetica Neue</vt:lpstr>
      <vt:lpstr>Symbol</vt:lpstr>
      <vt:lpstr>Times New Roman</vt:lpstr>
      <vt:lpstr>Everyday use</vt:lpstr>
      <vt:lpstr>&lt;&gt; Programme Closure Report</vt:lpstr>
      <vt:lpstr>Programme Closure Summary</vt:lpstr>
      <vt:lpstr>Programme Benefits Realisation</vt:lpstr>
      <vt:lpstr>Ongoing Programme Risks and Issues</vt:lpstr>
      <vt:lpstr>Feedback</vt:lpstr>
      <vt:lpstr>Lessons learnt</vt:lpstr>
      <vt:lpstr>Programme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Bassadone Anna</dc:creator>
  <cp:lastModifiedBy>Beale Georgina</cp:lastModifiedBy>
  <cp:revision>22</cp:revision>
  <dcterms:created xsi:type="dcterms:W3CDTF">2022-09-15T10:32:58Z</dcterms:created>
  <dcterms:modified xsi:type="dcterms:W3CDTF">2022-11-01T13:38:19Z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a60d57e-af5b-4752-ac57-3e4f28ca11dc_Enabled">
    <vt:lpwstr>true</vt:lpwstr>
  </property>
  <property fmtid="{D5CDD505-2E9C-101B-9397-08002B2CF9AE}" pid="3" name="MSIP_Label_ea60d57e-af5b-4752-ac57-3e4f28ca11dc_SetDate">
    <vt:lpwstr>2022-09-15T10:32:59Z</vt:lpwstr>
  </property>
  <property fmtid="{D5CDD505-2E9C-101B-9397-08002B2CF9AE}" pid="4" name="MSIP_Label_ea60d57e-af5b-4752-ac57-3e4f28ca11dc_Method">
    <vt:lpwstr>Standard</vt:lpwstr>
  </property>
  <property fmtid="{D5CDD505-2E9C-101B-9397-08002B2CF9AE}" pid="5" name="MSIP_Label_ea60d57e-af5b-4752-ac57-3e4f28ca11dc_Name">
    <vt:lpwstr>ea60d57e-af5b-4752-ac57-3e4f28ca11dc</vt:lpwstr>
  </property>
  <property fmtid="{D5CDD505-2E9C-101B-9397-08002B2CF9AE}" pid="6" name="MSIP_Label_ea60d57e-af5b-4752-ac57-3e4f28ca11dc_SiteId">
    <vt:lpwstr>36da45f1-dd2c-4d1f-af13-5abe46b99921</vt:lpwstr>
  </property>
  <property fmtid="{D5CDD505-2E9C-101B-9397-08002B2CF9AE}" pid="7" name="MSIP_Label_ea60d57e-af5b-4752-ac57-3e4f28ca11dc_ActionId">
    <vt:lpwstr>ad460490-1af3-472b-8875-f35ee5d4eaad</vt:lpwstr>
  </property>
  <property fmtid="{D5CDD505-2E9C-101B-9397-08002B2CF9AE}" pid="8" name="MSIP_Label_ea60d57e-af5b-4752-ac57-3e4f28ca11dc_ContentBits">
    <vt:lpwstr>0</vt:lpwstr>
  </property>
  <property fmtid="{D5CDD505-2E9C-101B-9397-08002B2CF9AE}" pid="9" name="ContentTypeId">
    <vt:lpwstr>0x01010091722475DE344940A41BC623561EC2B3</vt:lpwstr>
  </property>
  <property fmtid="{D5CDD505-2E9C-101B-9397-08002B2CF9AE}" pid="10" name="WinDIP File ID">
    <vt:lpwstr>6ef806b8-baa9-40f2-92ed-30c69bc52cd3</vt:lpwstr>
  </property>
  <property fmtid="{D5CDD505-2E9C-101B-9397-08002B2CF9AE}" pid="11" name="MediaServiceImageTags">
    <vt:lpwstr/>
  </property>
</Properties>
</file>